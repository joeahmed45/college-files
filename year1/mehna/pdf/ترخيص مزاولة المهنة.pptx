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72" r:id="rId4"/>
    <p:sldId id="261" r:id="rId5"/>
    <p:sldId id="271" r:id="rId6"/>
    <p:sldId id="270" r:id="rId7"/>
    <p:sldId id="265" r:id="rId8"/>
    <p:sldId id="268" r:id="rId9"/>
    <p:sldId id="262" r:id="rId10"/>
    <p:sldId id="267" r:id="rId11"/>
    <p:sldId id="273" r:id="rId12"/>
    <p:sldId id="269" r:id="rId13"/>
    <p:sldId id="264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05" autoAdjust="0"/>
  </p:normalViewPr>
  <p:slideViewPr>
    <p:cSldViewPr>
      <p:cViewPr>
        <p:scale>
          <a:sx n="89" d="100"/>
          <a:sy n="89" d="100"/>
        </p:scale>
        <p:origin x="-139" y="6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B38E977C-EFB1-4E52-913B-93B150835F22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95D7EC0-BD04-4729-94E4-017C56D7E82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556792"/>
            <a:ext cx="7560841" cy="1450309"/>
          </a:xfrm>
        </p:spPr>
        <p:txBody>
          <a:bodyPr>
            <a:noAutofit/>
          </a:bodyPr>
          <a:lstStyle/>
          <a:p>
            <a:pPr algn="r"/>
            <a:r>
              <a:rPr lang="en-US" sz="4400" b="1" dirty="0"/>
              <a:t> </a:t>
            </a: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ar-SA" sz="4400" b="1" dirty="0" smtClean="0">
                <a:solidFill>
                  <a:schemeClr val="bg1"/>
                </a:solidFill>
              </a:rPr>
              <a:t>الرخصة </a:t>
            </a:r>
            <a:r>
              <a:rPr lang="ar-SA" sz="4400" b="1" dirty="0">
                <a:solidFill>
                  <a:schemeClr val="bg1"/>
                </a:solidFill>
              </a:rPr>
              <a:t>المهنية لمزاولة مهنة التعليم :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861048"/>
            <a:ext cx="7258000" cy="1512168"/>
          </a:xfrm>
        </p:spPr>
        <p:txBody>
          <a:bodyPr/>
          <a:lstStyle/>
          <a:p>
            <a:pPr algn="ctr"/>
            <a:r>
              <a:rPr lang="ar-EG" sz="4300" dirty="0" smtClean="0">
                <a:solidFill>
                  <a:srgbClr val="FF8600"/>
                </a:solidFill>
                <a:ea typeface="+mj-ea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07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3528" y="404665"/>
            <a:ext cx="8280920" cy="1512167"/>
          </a:xfrm>
        </p:spPr>
        <p:txBody>
          <a:bodyPr>
            <a:normAutofit/>
          </a:bodyPr>
          <a:lstStyle/>
          <a:p>
            <a:pPr algn="ctr"/>
            <a:r>
              <a:rPr lang="ar-EG" sz="8000" dirty="0" smtClean="0">
                <a:solidFill>
                  <a:srgbClr val="775F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ic Typesetting" pitchFamily="66" charset="-78"/>
                <a:cs typeface="Arabic Typesetting" pitchFamily="66" charset="-78"/>
              </a:rPr>
              <a:t> </a:t>
            </a:r>
            <a:r>
              <a:rPr lang="ar-EG" sz="8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abic Typesetting" pitchFamily="66" charset="-78"/>
                <a:cs typeface="Arabic Typesetting" pitchFamily="66" charset="-78"/>
              </a:rPr>
              <a:t>الرخصة المهنية لمزاولة مهنة التعليم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7504" y="4221088"/>
            <a:ext cx="2088232" cy="1761246"/>
          </a:xfrm>
          <a:prstGeom prst="ellipse">
            <a:avLst/>
          </a:prstGeom>
          <a:solidFill>
            <a:srgbClr val="DD8047"/>
          </a:solidFill>
          <a:ln w="19050" cap="flat" cmpd="sng" algn="ctr">
            <a:solidFill>
              <a:srgbClr val="DD8047">
                <a:shade val="50000"/>
              </a:srgbClr>
            </a:solidFill>
            <a:prstDash val="solid"/>
          </a:ln>
          <a:effectLst/>
        </p:spPr>
        <p:txBody>
          <a:bodyPr anchor="ctr">
            <a:normAutofit fontScale="70000" lnSpcReduction="20000"/>
          </a:bodyPr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w Cen MT"/>
                <a:ea typeface="+mn-ea"/>
                <a:cs typeface="Arial"/>
              </a:rPr>
              <a:t>4- معوقات تطبيق الترخيص المهني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w Cen MT"/>
              <a:ea typeface="+mn-ea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36368" y="4124410"/>
            <a:ext cx="2304256" cy="189687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solidFill>
              <a:srgbClr val="968C8C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EG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w Cen MT"/>
                <a:ea typeface="+mn-ea"/>
                <a:cs typeface="Arial"/>
              </a:rPr>
              <a:t>2- نشأة الترخيص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w Cen MT"/>
              <a:ea typeface="+mn-ea"/>
            </a:endParaRPr>
          </a:p>
        </p:txBody>
      </p:sp>
      <p:sp>
        <p:nvSpPr>
          <p:cNvPr id="8" name="Curved Down Arrow 7"/>
          <p:cNvSpPr/>
          <p:nvPr/>
        </p:nvSpPr>
        <p:spPr>
          <a:xfrm>
            <a:off x="4139952" y="2060848"/>
            <a:ext cx="1648200" cy="1512168"/>
          </a:xfrm>
          <a:prstGeom prst="curvedDownArrow">
            <a:avLst>
              <a:gd name="adj1" fmla="val 25000"/>
              <a:gd name="adj2" fmla="val 50829"/>
              <a:gd name="adj3" fmla="val 2500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6804248" y="4146839"/>
            <a:ext cx="2232248" cy="1802441"/>
          </a:xfrm>
          <a:prstGeom prst="ellipse">
            <a:avLst/>
          </a:prstGeom>
          <a:solidFill>
            <a:srgbClr val="DD8047"/>
          </a:solidFill>
          <a:ln w="19050" cap="flat" cmpd="sng" algn="ctr">
            <a:solidFill>
              <a:srgbClr val="DD8047">
                <a:shade val="50000"/>
              </a:srgbClr>
            </a:solidFill>
            <a:prstDash val="solid"/>
          </a:ln>
          <a:effectLst/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ar-EG" sz="3200" b="1" kern="0" dirty="0" smtClean="0">
                <a:solidFill>
                  <a:schemeClr val="bg2"/>
                </a:solidFill>
                <a:latin typeface="Tw Cen MT"/>
                <a:cs typeface="Arial"/>
              </a:rPr>
              <a:t>1- مفهموم الرخصة</a:t>
            </a:r>
            <a:endParaRPr lang="en-US" sz="3200" b="1" kern="0" dirty="0">
              <a:solidFill>
                <a:schemeClr val="bg2"/>
              </a:solidFill>
              <a:latin typeface="Tw Cen MT"/>
            </a:endParaRPr>
          </a:p>
        </p:txBody>
      </p:sp>
      <p:sp>
        <p:nvSpPr>
          <p:cNvPr id="10" name="Content Placeholder 5"/>
          <p:cNvSpPr txBox="1">
            <a:spLocks/>
          </p:cNvSpPr>
          <p:nvPr/>
        </p:nvSpPr>
        <p:spPr>
          <a:xfrm>
            <a:off x="2240990" y="4146839"/>
            <a:ext cx="2088232" cy="2010324"/>
          </a:xfrm>
          <a:prstGeom prst="ellipse">
            <a:avLst/>
          </a:prstGeom>
          <a:solidFill>
            <a:srgbClr val="DD8047"/>
          </a:solidFill>
          <a:ln w="19050" cap="flat" cmpd="sng" algn="ctr">
            <a:solidFill>
              <a:srgbClr val="DD8047">
                <a:shade val="50000"/>
              </a:srgbClr>
            </a:solidFill>
            <a:prstDash val="solid"/>
          </a:ln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ar-EG" sz="3200" b="1" kern="0" dirty="0" smtClean="0">
                <a:solidFill>
                  <a:schemeClr val="bg2"/>
                </a:solidFill>
                <a:latin typeface="Tw Cen MT"/>
                <a:cs typeface="Arial"/>
              </a:rPr>
              <a:t>3- فوائد الرخصة المهنية</a:t>
            </a:r>
            <a:endParaRPr lang="en-US" sz="3200" b="1" kern="0" dirty="0">
              <a:solidFill>
                <a:schemeClr val="bg2"/>
              </a:solidFill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17332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404665"/>
            <a:ext cx="7344816" cy="792087"/>
          </a:xfrm>
        </p:spPr>
        <p:txBody>
          <a:bodyPr>
            <a:normAutofit fontScale="90000"/>
          </a:bodyPr>
          <a:lstStyle/>
          <a:p>
            <a:r>
              <a:rPr lang="ar-EG" dirty="0" smtClean="0">
                <a:solidFill>
                  <a:srgbClr val="FF0000"/>
                </a:solidFill>
              </a:rPr>
              <a:t>مفهوم الترخيص المهني:                            </a:t>
            </a:r>
            <a:endParaRPr lang="ar-EG" dirty="0">
              <a:solidFill>
                <a:srgbClr val="FF0000"/>
              </a:solidFill>
            </a:endParaRPr>
          </a:p>
        </p:txBody>
      </p:sp>
      <p:sp useBgFill="1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" y="1412776"/>
            <a:ext cx="8568952" cy="4907679"/>
          </a:xfrm>
        </p:spPr>
        <p:txBody>
          <a:bodyPr>
            <a:normAutofit/>
          </a:bodyPr>
          <a:lstStyle/>
          <a:p>
            <a:pPr algn="r" rtl="1"/>
            <a:r>
              <a:rPr lang="ar-SA" sz="3200" b="1" dirty="0">
                <a:solidFill>
                  <a:srgbClr val="FF0000"/>
                </a:solidFill>
              </a:rPr>
              <a:t>مفهوم الترخيص المهنى</a:t>
            </a:r>
            <a:r>
              <a:rPr lang="ar-SA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professional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bg1"/>
                </a:solidFill>
              </a:rPr>
              <a:t>license </a:t>
            </a:r>
            <a:r>
              <a:rPr lang="ar-SA" sz="3200" dirty="0" smtClean="0">
                <a:solidFill>
                  <a:schemeClr val="bg1"/>
                </a:solidFill>
              </a:rPr>
              <a:t>: </a:t>
            </a:r>
            <a:r>
              <a:rPr lang="ar-SA" sz="3200" dirty="0">
                <a:solidFill>
                  <a:schemeClr val="bg1"/>
                </a:solidFill>
              </a:rPr>
              <a:t>الآلية التي يضمن بمقتضاها النظام التعليمى امتلاك المعلمين الحد الأدنى من المهارات و المعارف </a:t>
            </a:r>
            <a:r>
              <a:rPr lang="ar-SA" sz="3200" dirty="0" smtClean="0">
                <a:solidFill>
                  <a:schemeClr val="bg1"/>
                </a:solidFill>
              </a:rPr>
              <a:t>والمواصفات </a:t>
            </a:r>
            <a:r>
              <a:rPr lang="ar-SA" sz="3200" dirty="0">
                <a:solidFill>
                  <a:schemeClr val="bg1"/>
                </a:solidFill>
              </a:rPr>
              <a:t>المطلوبة للعمل في مهنة التعليم . </a:t>
            </a:r>
            <a:endParaRPr lang="ar-EG" sz="3200" dirty="0" smtClean="0">
              <a:solidFill>
                <a:schemeClr val="bg1"/>
              </a:solidFill>
            </a:endParaRPr>
          </a:p>
          <a:p>
            <a:pPr marL="45720" indent="0" algn="r" rtl="1">
              <a:buNone/>
            </a:pPr>
            <a:endParaRPr lang="ar-EG" sz="3200" dirty="0" smtClean="0">
              <a:solidFill>
                <a:schemeClr val="bg1"/>
              </a:solidFill>
            </a:endParaRPr>
          </a:p>
          <a:p>
            <a:pPr algn="r" rtl="1"/>
            <a:r>
              <a:rPr lang="ar-SA" sz="3200" b="1" dirty="0">
                <a:solidFill>
                  <a:srgbClr val="FF0000"/>
                </a:solidFill>
              </a:rPr>
              <a:t>الترخيص للتدريس</a:t>
            </a:r>
            <a:r>
              <a:rPr lang="ar-SA" sz="3200" dirty="0">
                <a:solidFill>
                  <a:srgbClr val="FF0000"/>
                </a:solidFill>
              </a:rPr>
              <a:t> </a:t>
            </a:r>
            <a:r>
              <a:rPr lang="ar-SA" sz="3200" dirty="0" smtClean="0">
                <a:solidFill>
                  <a:schemeClr val="bg1"/>
                </a:solidFill>
              </a:rPr>
              <a:t>:" </a:t>
            </a:r>
            <a:r>
              <a:rPr lang="ar-SA" sz="3200" dirty="0">
                <a:solidFill>
                  <a:schemeClr val="bg1"/>
                </a:solidFill>
              </a:rPr>
              <a:t>الشهادة الرسمية الصادرة بواسطة الدولة أو أی جهة أخرى مخصصة لإصدار شهادات التدريس لتكون دليل إثبات لمزاولة مهنة التعليم".</a:t>
            </a:r>
            <a:endParaRPr lang="en-US" sz="3200" dirty="0">
              <a:solidFill>
                <a:schemeClr val="bg1"/>
              </a:solidFill>
            </a:endParaRPr>
          </a:p>
          <a:p>
            <a:pPr algn="r" rtl="1"/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59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3" y="803304"/>
            <a:ext cx="810990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indent="-685800" algn="r" rtl="1">
              <a:buFont typeface="Wingdings" pitchFamily="2" charset="2"/>
              <a:buChar char="v"/>
            </a:pPr>
            <a:r>
              <a:rPr lang="ar-SA" sz="3200" dirty="0">
                <a:solidFill>
                  <a:srgbClr val="FF0000"/>
                </a:solidFill>
              </a:rPr>
              <a:t>كما أن الترخيص المهني </a:t>
            </a:r>
            <a:r>
              <a:rPr lang="ar-SA" sz="3200" dirty="0" smtClean="0">
                <a:solidFill>
                  <a:srgbClr val="FF0000"/>
                </a:solidFill>
              </a:rPr>
              <a:t>للمعلمين</a:t>
            </a:r>
            <a:r>
              <a:rPr lang="ar-EG" sz="3200" dirty="0" smtClean="0">
                <a:solidFill>
                  <a:srgbClr val="FFC000"/>
                </a:solidFill>
              </a:rPr>
              <a:t>:</a:t>
            </a:r>
            <a:r>
              <a:rPr lang="ar-SA" sz="3200" dirty="0" smtClean="0">
                <a:solidFill>
                  <a:srgbClr val="FFC000"/>
                </a:solidFill>
              </a:rPr>
              <a:t> </a:t>
            </a:r>
            <a:r>
              <a:rPr lang="ar-SA" sz="3200" dirty="0" smtClean="0">
                <a:solidFill>
                  <a:schemeClr val="bg1"/>
                </a:solidFill>
              </a:rPr>
              <a:t>هي</a:t>
            </a:r>
            <a:r>
              <a:rPr lang="ar-EG" sz="3200" dirty="0" smtClean="0">
                <a:solidFill>
                  <a:schemeClr val="bg1"/>
                </a:solidFill>
              </a:rPr>
              <a:t> </a:t>
            </a:r>
            <a:r>
              <a:rPr lang="ar-SA" sz="3200" dirty="0" smtClean="0">
                <a:solidFill>
                  <a:schemeClr val="bg1"/>
                </a:solidFill>
              </a:rPr>
              <a:t>العملية </a:t>
            </a:r>
            <a:r>
              <a:rPr lang="ar-SA" sz="3200" dirty="0">
                <a:solidFill>
                  <a:schemeClr val="bg1"/>
                </a:solidFill>
              </a:rPr>
              <a:t>التى يسمح بمقتضاها للفرد المتخرج من النظام التعليمي وحاصل على مؤهل دراسى بممارسة العمل بمهنة التعليم في</a:t>
            </a:r>
            <a:r>
              <a:rPr lang="ar-SA" sz="3200" dirty="0"/>
              <a:t> </a:t>
            </a:r>
            <a:r>
              <a:rPr lang="ar-SA" sz="3200" dirty="0">
                <a:solidFill>
                  <a:schemeClr val="bg1"/>
                </a:solidFill>
              </a:rPr>
              <a:t>تخصص تعليمي </a:t>
            </a:r>
            <a:r>
              <a:rPr lang="ar-SA" sz="3200" dirty="0" smtClean="0">
                <a:solidFill>
                  <a:schemeClr val="bg1"/>
                </a:solidFill>
              </a:rPr>
              <a:t>محدد </a:t>
            </a:r>
            <a:r>
              <a:rPr lang="ar-SA" sz="3200" dirty="0">
                <a:solidFill>
                  <a:schemeClr val="bg1"/>
                </a:solidFill>
              </a:rPr>
              <a:t>والاستمرار فيها </a:t>
            </a:r>
            <a:r>
              <a:rPr lang="ar-SA" sz="3200" dirty="0" smtClean="0">
                <a:solidFill>
                  <a:schemeClr val="bg1"/>
                </a:solidFill>
              </a:rPr>
              <a:t>.</a:t>
            </a:r>
            <a:r>
              <a:rPr lang="ar-SA" sz="3200" dirty="0">
                <a:solidFill>
                  <a:schemeClr val="bg1"/>
                </a:solidFill>
              </a:rPr>
              <a:t> </a:t>
            </a:r>
            <a:endParaRPr lang="ar-EG" sz="3200" dirty="0" smtClean="0">
              <a:solidFill>
                <a:schemeClr val="bg1"/>
              </a:solidFill>
            </a:endParaRPr>
          </a:p>
          <a:p>
            <a:pPr marL="1143000" lvl="1" indent="-6858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rgbClr val="FF0000"/>
                </a:solidFill>
              </a:rPr>
              <a:t>فالترخيص </a:t>
            </a:r>
            <a:r>
              <a:rPr lang="ar-SA" sz="3200" dirty="0">
                <a:solidFill>
                  <a:srgbClr val="FF0000"/>
                </a:solidFill>
              </a:rPr>
              <a:t>يعد من الضمانات التي يستند إليها في إلحاق المعلم بمهنة التعليم </a:t>
            </a:r>
            <a:r>
              <a:rPr lang="ar-SA" sz="3200" dirty="0">
                <a:solidFill>
                  <a:schemeClr val="bg1"/>
                </a:solidFill>
              </a:rPr>
              <a:t>وتأكيدا على أمانته ورعايته للمتعلمين وتطوره الدائم في مجال </a:t>
            </a:r>
            <a:r>
              <a:rPr lang="ar-SA" sz="3200" dirty="0" smtClean="0">
                <a:solidFill>
                  <a:schemeClr val="bg1"/>
                </a:solidFill>
              </a:rPr>
              <a:t>تخصصه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</a:p>
          <a:p>
            <a:pPr marL="571500" indent="-571500" algn="r" rtl="1">
              <a:buFont typeface="Wingdings" pitchFamily="2" charset="2"/>
              <a:buChar char="v"/>
            </a:pPr>
            <a:r>
              <a:rPr lang="ar-SA" sz="3200" dirty="0">
                <a:solidFill>
                  <a:srgbClr val="FF0000"/>
                </a:solidFill>
              </a:rPr>
              <a:t>فهي " وثيقة عمل تتبناها جهة رسمية. </a:t>
            </a:r>
            <a:r>
              <a:rPr lang="ar-SA" sz="3200" dirty="0">
                <a:solidFill>
                  <a:schemeClr val="bg1"/>
                </a:solidFill>
              </a:rPr>
              <a:t>يزاول بموجبها المعلم مهنة التدريس لمدة محددة.</a:t>
            </a:r>
            <a:endParaRPr lang="en-US" sz="3200" dirty="0">
              <a:solidFill>
                <a:schemeClr val="bg1"/>
              </a:solidFill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ar-EG" sz="3200" b="1" kern="0" dirty="0">
              <a:solidFill>
                <a:schemeClr val="accent4">
                  <a:lumMod val="60000"/>
                  <a:lumOff val="4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Arabic Typesetting" pitchFamily="66" charset="-78"/>
                <a:cs typeface="Arabic Typesetting" pitchFamily="66" charset="-78"/>
              </a:rPr>
              <a:t> </a:t>
            </a:r>
            <a:endParaRPr kumimoji="0" lang="ar-EG" sz="32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Arabic Typesetting" pitchFamily="66" charset="-78"/>
              <a:cs typeface="Arabic Typesetting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96963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782122"/>
            <a:ext cx="7992888" cy="28007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ar-EG" sz="4400" dirty="0" smtClean="0"/>
              <a:t>وهناك </a:t>
            </a:r>
            <a:r>
              <a:rPr lang="ar-SA" sz="4400" dirty="0" smtClean="0">
                <a:solidFill>
                  <a:srgbClr val="FF0000"/>
                </a:solidFill>
              </a:rPr>
              <a:t>بعد </a:t>
            </a:r>
            <a:r>
              <a:rPr lang="ar-SA" sz="4400" dirty="0">
                <a:solidFill>
                  <a:srgbClr val="FF0000"/>
                </a:solidFill>
              </a:rPr>
              <a:t>قانوني ومضمون أخلاقي </a:t>
            </a:r>
            <a:r>
              <a:rPr lang="ar-SA" sz="4400" dirty="0"/>
              <a:t>يتمثل في حماية المواطن المتعلم من المعلمين غير الأكفاء وحماية المهنة من الدخلاء ما يجعله أعم وأشمل من إجازة التدريس.</a:t>
            </a:r>
            <a:endParaRPr lang="en-US" sz="4400" b="1" kern="0" dirty="0">
              <a:solidFill>
                <a:schemeClr val="bg1"/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861048"/>
            <a:ext cx="3960440" cy="263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887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4341" y="620688"/>
            <a:ext cx="8421104" cy="5355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71500" lvl="0" indent="-571500" algn="just" rtl="1">
              <a:buFont typeface="Wingdings" pitchFamily="2" charset="2"/>
              <a:buChar char="Ø"/>
              <a:defRPr/>
            </a:pPr>
            <a:r>
              <a:rPr lang="ar-EG" sz="3600" b="1" kern="0" dirty="0" smtClean="0">
                <a:solidFill>
                  <a:srgbClr val="FF0000"/>
                </a:solidFill>
                <a:latin typeface="Arabic Typesetting" pitchFamily="66" charset="-78"/>
                <a:cs typeface="Arabic Typesetting" pitchFamily="66" charset="-78"/>
              </a:rPr>
              <a:t>التطور التاريخي للترخيص لمزاواة مهنة التعليم:</a:t>
            </a:r>
          </a:p>
          <a:p>
            <a:pPr marL="571500" lvl="0" indent="-571500" algn="just" rtl="1">
              <a:buFont typeface="Wingdings" pitchFamily="2" charset="2"/>
              <a:buChar char="Ø"/>
              <a:defRPr/>
            </a:pPr>
            <a:r>
              <a:rPr lang="ar-SA" sz="3600" dirty="0" smtClean="0"/>
              <a:t>الترخيص </a:t>
            </a:r>
            <a:r>
              <a:rPr lang="ar-SA" sz="3600" dirty="0"/>
              <a:t>للتعليم هو في الأصل صناعة عربية يعود تاريخها إلى القرن التاسع </a:t>
            </a:r>
            <a:r>
              <a:rPr lang="ar-SA" sz="3600" dirty="0" smtClean="0"/>
              <a:t>الميلادى</a:t>
            </a:r>
            <a:r>
              <a:rPr lang="ar-EG" sz="3600" dirty="0" smtClean="0"/>
              <a:t>.</a:t>
            </a:r>
          </a:p>
          <a:p>
            <a:pPr marL="571500" lvl="0" indent="-571500" algn="just" rtl="1">
              <a:buFont typeface="Wingdings" pitchFamily="2" charset="2"/>
              <a:buChar char="Ø"/>
              <a:defRPr/>
            </a:pPr>
            <a:r>
              <a:rPr lang="ar-SA" sz="3600" dirty="0"/>
              <a:t>كان طالب العلم فى الجزيرة العربية متجولا وكانت الدراسة المتحركة إحدى قواعد تحصيل العلم عند العرب القدامى وقد أسست الهجرة المستمرة عند طلبة العلم إلى بلوغ الإجازه أو الإذن </a:t>
            </a:r>
            <a:r>
              <a:rPr lang="ar-SA" sz="3600" dirty="0" smtClean="0"/>
              <a:t>بالتعليم</a:t>
            </a:r>
            <a:r>
              <a:rPr lang="ar-EG" sz="3600" dirty="0" smtClean="0"/>
              <a:t>.</a:t>
            </a:r>
          </a:p>
          <a:p>
            <a:pPr marL="571500" lvl="0" indent="-571500" algn="just" rtl="1">
              <a:buFont typeface="Wingdings" pitchFamily="2" charset="2"/>
              <a:buChar char="Ø"/>
              <a:defRPr/>
            </a:pPr>
            <a:r>
              <a:rPr lang="ar-SA" sz="3600" dirty="0"/>
              <a:t>وكانت هذه </a:t>
            </a:r>
            <a:r>
              <a:rPr lang="ar-SA" sz="3600" dirty="0">
                <a:solidFill>
                  <a:srgbClr val="FF0000"/>
                </a:solidFill>
              </a:rPr>
              <a:t>الإجازه </a:t>
            </a:r>
            <a:r>
              <a:rPr lang="ar-SA" sz="3600" dirty="0"/>
              <a:t>هي الشهاده التي يمنحها الأستاذ للطالب الذي أنهى برامج الدراسة التي بدأها </a:t>
            </a:r>
            <a:r>
              <a:rPr lang="ar-SA" sz="3600" dirty="0" smtClean="0"/>
              <a:t>معه</a:t>
            </a:r>
            <a:r>
              <a:rPr lang="ar-EG" sz="3600" dirty="0" smtClean="0"/>
              <a:t>.</a:t>
            </a:r>
            <a:endParaRPr lang="ar-EG" sz="3600" b="1" kern="0" dirty="0" smtClean="0">
              <a:solidFill>
                <a:srgbClr val="FF0000"/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marL="571500" lvl="0" indent="-571500" algn="just" rtl="1">
              <a:buFont typeface="Wingdings" pitchFamily="2" charset="2"/>
              <a:buChar char="Ø"/>
              <a:defRPr/>
            </a:pPr>
            <a:endParaRPr lang="en-US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09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1520" y="1700808"/>
            <a:ext cx="84969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buFont typeface="Wingdings" pitchFamily="2" charset="2"/>
              <a:buChar char="v"/>
            </a:pPr>
            <a:r>
              <a:rPr lang="ar-SA" sz="3200" dirty="0">
                <a:solidFill>
                  <a:schemeClr val="bg1"/>
                </a:solidFill>
                <a:latin typeface="+mj-lt"/>
              </a:rPr>
              <a:t>وكان الغرض فى </a:t>
            </a:r>
            <a:r>
              <a:rPr lang="ar-SA" sz="3200" b="1" dirty="0">
                <a:solidFill>
                  <a:schemeClr val="bg1"/>
                </a:solidFill>
                <a:latin typeface="+mj-lt"/>
              </a:rPr>
              <a:t>المقام الأول</a:t>
            </a:r>
            <a:r>
              <a:rPr lang="ar-SA" sz="3200" dirty="0">
                <a:solidFill>
                  <a:schemeClr val="bg1"/>
                </a:solidFill>
                <a:latin typeface="+mj-lt"/>
              </a:rPr>
              <a:t> </a:t>
            </a:r>
            <a:r>
              <a:rPr lang="ar-SA" sz="3200" dirty="0">
                <a:solidFill>
                  <a:srgbClr val="FF0000"/>
                </a:solidFill>
                <a:latin typeface="+mj-lt"/>
              </a:rPr>
              <a:t>المعرفة التربوية </a:t>
            </a:r>
            <a:r>
              <a:rPr lang="ar-SA" sz="3200" dirty="0">
                <a:solidFill>
                  <a:schemeClr val="bg1"/>
                </a:solidFill>
                <a:latin typeface="+mj-lt"/>
              </a:rPr>
              <a:t>وفي </a:t>
            </a:r>
            <a:r>
              <a:rPr lang="ar-SA" sz="3200" b="1" dirty="0">
                <a:solidFill>
                  <a:schemeClr val="bg1"/>
                </a:solidFill>
                <a:latin typeface="+mj-lt"/>
              </a:rPr>
              <a:t>المقام الثاني</a:t>
            </a:r>
            <a:r>
              <a:rPr lang="ar-SA" sz="3200" dirty="0">
                <a:solidFill>
                  <a:schemeClr val="bg1"/>
                </a:solidFill>
                <a:latin typeface="+mj-lt"/>
              </a:rPr>
              <a:t> من نظام الترخيص المهني للمعلمين وهو </a:t>
            </a:r>
            <a:r>
              <a:rPr lang="ar-SA" sz="3200" dirty="0">
                <a:solidFill>
                  <a:srgbClr val="FF0000"/>
                </a:solidFill>
                <a:latin typeface="+mj-lt"/>
              </a:rPr>
              <a:t>ضمان توافر الحد الأدنى من الجوده و الكفاءة لدى المعلمين </a:t>
            </a:r>
            <a:r>
              <a:rPr lang="ar-SA" sz="3200" dirty="0" smtClean="0">
                <a:solidFill>
                  <a:srgbClr val="FF0000"/>
                </a:solidFill>
                <a:latin typeface="+mj-lt"/>
              </a:rPr>
              <a:t>الجدد</a:t>
            </a:r>
            <a:r>
              <a:rPr lang="ar-EG" sz="3200" dirty="0" smtClean="0">
                <a:solidFill>
                  <a:srgbClr val="FF0000"/>
                </a:solidFill>
                <a:latin typeface="+mj-lt"/>
              </a:rPr>
              <a:t>.</a:t>
            </a:r>
          </a:p>
          <a:p>
            <a:pPr algn="r" rtl="1"/>
            <a:endParaRPr lang="ar-EG" sz="3200" dirty="0" smtClean="0">
              <a:latin typeface="+mj-lt"/>
            </a:endParaRPr>
          </a:p>
          <a:p>
            <a:pPr marL="457200" indent="-4572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chemeClr val="bg1"/>
                </a:solidFill>
                <a:latin typeface="+mj-lt"/>
              </a:rPr>
              <a:t>وكان </a:t>
            </a:r>
            <a:r>
              <a:rPr lang="ar-SA" sz="3200" dirty="0">
                <a:solidFill>
                  <a:schemeClr val="bg1"/>
                </a:solidFill>
                <a:latin typeface="+mj-lt"/>
              </a:rPr>
              <a:t>المبرر وراء ظهور هذه الفكرة في المجتمع الامريكي الاعتقاد السائد </a:t>
            </a:r>
            <a:r>
              <a:rPr lang="ar-SA" sz="3200" dirty="0">
                <a:solidFill>
                  <a:srgbClr val="FF0000"/>
                </a:solidFill>
                <a:latin typeface="+mj-lt"/>
              </a:rPr>
              <a:t>أن المعلمين مثلهم مثل الأطباء والمحامين يتحتم عليهم الحصول على تراخيص لمزاولة المهنة </a:t>
            </a:r>
            <a:r>
              <a:rPr lang="ar-SA" sz="3200" dirty="0">
                <a:solidFill>
                  <a:schemeClr val="bg1"/>
                </a:solidFill>
                <a:latin typeface="+mj-lt"/>
              </a:rPr>
              <a:t>من أجل ضمان جودة المنتجات التي يقدمونها والتي تتمثل فى أولئك الطلاب الذين يقومون بالتدريس لهم .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939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5" y="548680"/>
            <a:ext cx="80831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EG" sz="4000" b="1" dirty="0" smtClean="0">
                <a:solidFill>
                  <a:srgbClr val="5D5AD2">
                    <a:lumMod val="60000"/>
                    <a:lumOff val="40000"/>
                  </a:srgbClr>
                </a:solidFill>
                <a:latin typeface="Arabic Typesetting" pitchFamily="66" charset="-78"/>
                <a:cs typeface="Arabic Typesetting" pitchFamily="66" charset="-78"/>
              </a:rPr>
              <a:t>-</a:t>
            </a:r>
            <a:endParaRPr lang="en-US" sz="4000" dirty="0">
              <a:solidFill>
                <a:srgbClr val="94147C">
                  <a:lumMod val="60000"/>
                  <a:lumOff val="40000"/>
                </a:srgb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05" y="692696"/>
            <a:ext cx="82809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ar-EG" sz="3600" dirty="0" smtClean="0">
                <a:solidFill>
                  <a:schemeClr val="bg1"/>
                </a:solidFill>
              </a:rPr>
              <a:t>- </a:t>
            </a:r>
            <a:r>
              <a:rPr lang="ar-EG" sz="3600" dirty="0" smtClean="0">
                <a:solidFill>
                  <a:srgbClr val="C00000"/>
                </a:solidFill>
              </a:rPr>
              <a:t>فكرة </a:t>
            </a:r>
            <a:r>
              <a:rPr lang="ar-SA" sz="3600" dirty="0" smtClean="0">
                <a:solidFill>
                  <a:srgbClr val="C00000"/>
                </a:solidFill>
              </a:rPr>
              <a:t>الترخيص </a:t>
            </a:r>
            <a:r>
              <a:rPr lang="ar-SA" sz="3600" dirty="0">
                <a:solidFill>
                  <a:srgbClr val="C00000"/>
                </a:solidFill>
              </a:rPr>
              <a:t>المهني للمعلمين لم تكن حديثة </a:t>
            </a:r>
            <a:r>
              <a:rPr lang="ar-SA" sz="3600" dirty="0">
                <a:solidFill>
                  <a:schemeClr val="bg1"/>
                </a:solidFill>
              </a:rPr>
              <a:t>في المجتمع </a:t>
            </a:r>
            <a:r>
              <a:rPr lang="ar-SA" sz="3600" dirty="0" smtClean="0">
                <a:solidFill>
                  <a:schemeClr val="bg1"/>
                </a:solidFill>
              </a:rPr>
              <a:t>الأمريكي</a:t>
            </a:r>
            <a:r>
              <a:rPr lang="ar-EG" sz="3600" dirty="0" smtClean="0">
                <a:solidFill>
                  <a:schemeClr val="bg1"/>
                </a:solidFill>
              </a:rPr>
              <a:t>،</a:t>
            </a:r>
            <a:r>
              <a:rPr lang="ar-SA" sz="3600" dirty="0" smtClean="0">
                <a:solidFill>
                  <a:schemeClr val="bg1"/>
                </a:solidFill>
              </a:rPr>
              <a:t> </a:t>
            </a:r>
            <a:r>
              <a:rPr lang="ar-SA" sz="3600" dirty="0">
                <a:solidFill>
                  <a:schemeClr val="bg1"/>
                </a:solidFill>
              </a:rPr>
              <a:t>ولكنها فكرة قديمة ترجع جذورها إلى الحقبة </a:t>
            </a:r>
            <a:r>
              <a:rPr lang="ar-SA" sz="3600" dirty="0" smtClean="0">
                <a:solidFill>
                  <a:schemeClr val="bg1"/>
                </a:solidFill>
              </a:rPr>
              <a:t>الاستعمارية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</a:p>
          <a:p>
            <a:pPr marL="571500" indent="-571500" algn="r">
              <a:buFontTx/>
              <a:buChar char="-"/>
            </a:pPr>
            <a:r>
              <a:rPr lang="ar-EG" sz="3600" dirty="0" smtClean="0">
                <a:solidFill>
                  <a:schemeClr val="bg1"/>
                </a:solidFill>
              </a:rPr>
              <a:t> - </a:t>
            </a:r>
            <a:r>
              <a:rPr lang="ar-SA" sz="3600" dirty="0" smtClean="0">
                <a:solidFill>
                  <a:srgbClr val="C00000"/>
                </a:solidFill>
              </a:rPr>
              <a:t>ضرورة </a:t>
            </a:r>
            <a:r>
              <a:rPr lang="ar-SA" sz="3600" dirty="0">
                <a:solidFill>
                  <a:srgbClr val="C00000"/>
                </a:solidFill>
              </a:rPr>
              <a:t>أن يحصل كل من يرغب في العمل بالتدريس على الاعتراف</a:t>
            </a:r>
            <a:r>
              <a:rPr lang="ar-SA" sz="3600" dirty="0">
                <a:solidFill>
                  <a:schemeClr val="bg1"/>
                </a:solidFill>
              </a:rPr>
              <a:t> من واحد أو أكثر من رجال الدين، ولم يعط الاهتمام فى البداية لحجم المعلومات والمهارات والخبرات التي يمتلكها الفرد للنجاح في </a:t>
            </a:r>
            <a:r>
              <a:rPr lang="ar-SA" sz="3600" dirty="0" smtClean="0">
                <a:solidFill>
                  <a:schemeClr val="bg1"/>
                </a:solidFill>
              </a:rPr>
              <a:t>التدريس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</a:p>
          <a:p>
            <a:pPr marL="571500" indent="-571500" algn="r">
              <a:buFontTx/>
              <a:buChar char="-"/>
            </a:pPr>
            <a:r>
              <a:rPr lang="ar-EG" sz="3600" dirty="0" smtClean="0">
                <a:solidFill>
                  <a:schemeClr val="bg1"/>
                </a:solidFill>
              </a:rPr>
              <a:t>- </a:t>
            </a:r>
            <a:r>
              <a:rPr lang="ar-SA" sz="3600" dirty="0">
                <a:solidFill>
                  <a:schemeClr val="bg1"/>
                </a:solidFill>
              </a:rPr>
              <a:t>أنصب التركيز على كونه </a:t>
            </a:r>
            <a:r>
              <a:rPr lang="ar-SA" sz="3600" dirty="0">
                <a:solidFill>
                  <a:srgbClr val="C00000"/>
                </a:solidFill>
              </a:rPr>
              <a:t>شخصية سوية </a:t>
            </a:r>
            <a:r>
              <a:rPr lang="ar-SA" sz="3600" dirty="0" smtClean="0">
                <a:solidFill>
                  <a:srgbClr val="C00000"/>
                </a:solidFill>
              </a:rPr>
              <a:t>مستقيمة</a:t>
            </a:r>
            <a:r>
              <a:rPr lang="ar-EG" sz="3600" dirty="0" smtClean="0">
                <a:solidFill>
                  <a:srgbClr val="C00000"/>
                </a:solidFill>
              </a:rPr>
              <a:t>.</a:t>
            </a:r>
            <a:r>
              <a:rPr lang="ar-SA" sz="3600" dirty="0" smtClean="0">
                <a:solidFill>
                  <a:srgbClr val="C00000"/>
                </a:solidFill>
              </a:rPr>
              <a:t> </a:t>
            </a:r>
            <a:endParaRPr lang="ar-EG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994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717032"/>
            <a:ext cx="8572500" cy="2842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1520" y="692696"/>
            <a:ext cx="80648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ar-EG" sz="3200" dirty="0" smtClean="0"/>
              <a:t>- </a:t>
            </a:r>
            <a:r>
              <a:rPr lang="ar-SA" sz="3200" dirty="0" smtClean="0">
                <a:solidFill>
                  <a:srgbClr val="FF0000"/>
                </a:solidFill>
              </a:rPr>
              <a:t>قضية </a:t>
            </a:r>
            <a:r>
              <a:rPr lang="ar-SA" sz="3200" dirty="0">
                <a:solidFill>
                  <a:srgbClr val="FF0000"/>
                </a:solidFill>
              </a:rPr>
              <a:t>تمهين التعليم والترخيص المهني للمعلمين تأسس عام ۱۹۸۷م</a:t>
            </a:r>
            <a:r>
              <a:rPr lang="ar-SA" sz="3200" dirty="0">
                <a:solidFill>
                  <a:schemeClr val="bg1"/>
                </a:solidFill>
              </a:rPr>
              <a:t>، المجلس الوطني للمعلمين لمعايير مهنة التدريس </a:t>
            </a:r>
            <a:r>
              <a:rPr lang="en-US" sz="3200" dirty="0">
                <a:solidFill>
                  <a:schemeClr val="bg1"/>
                </a:solidFill>
              </a:rPr>
              <a:t>National board for professional teaching standards </a:t>
            </a:r>
            <a:r>
              <a:rPr lang="ar-SA" sz="3200" dirty="0">
                <a:solidFill>
                  <a:schemeClr val="bg1"/>
                </a:solidFill>
              </a:rPr>
              <a:t>كهيئة مستقلة غير ربحية وغير حزبية وغير حكومية ،بهدف النهوض بجودة ونوعية التعليم من خلال وضع معايير مهنية للتدريس </a:t>
            </a:r>
            <a:r>
              <a:rPr lang="ar-SA" sz="3200" dirty="0" smtClean="0">
                <a:solidFill>
                  <a:schemeClr val="bg1"/>
                </a:solidFill>
              </a:rPr>
              <a:t>الفعال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endParaRPr lang="ar-EG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30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3" y="333287"/>
            <a:ext cx="825882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sz="3600" dirty="0" smtClean="0">
                <a:solidFill>
                  <a:schemeClr val="bg1"/>
                </a:solidFill>
              </a:rPr>
              <a:t>- </a:t>
            </a:r>
            <a:r>
              <a:rPr lang="ar-SA" sz="3600" dirty="0" smtClean="0">
                <a:solidFill>
                  <a:schemeClr val="bg1"/>
                </a:solidFill>
              </a:rPr>
              <a:t>وقد </a:t>
            </a:r>
            <a:r>
              <a:rPr lang="ar-SA" sz="3600" dirty="0">
                <a:solidFill>
                  <a:schemeClr val="bg1"/>
                </a:solidFill>
              </a:rPr>
              <a:t>أكدت حركة الاصلاح في التعليم </a:t>
            </a:r>
            <a:r>
              <a:rPr lang="ar-SA" sz="3600" dirty="0" smtClean="0">
                <a:solidFill>
                  <a:schemeClr val="bg1"/>
                </a:solidFill>
              </a:rPr>
              <a:t>و</a:t>
            </a:r>
            <a:r>
              <a:rPr lang="ar-EG" sz="3600" dirty="0" smtClean="0">
                <a:solidFill>
                  <a:schemeClr val="bg1"/>
                </a:solidFill>
              </a:rPr>
              <a:t>إ</a:t>
            </a:r>
            <a:r>
              <a:rPr lang="ar-SA" sz="3600" dirty="0" smtClean="0">
                <a:solidFill>
                  <a:schemeClr val="bg1"/>
                </a:solidFill>
              </a:rPr>
              <a:t>عداد </a:t>
            </a:r>
            <a:r>
              <a:rPr lang="ar-SA" sz="3600" dirty="0">
                <a:solidFill>
                  <a:schemeClr val="bg1"/>
                </a:solidFill>
              </a:rPr>
              <a:t>المعلم التي بدأت في الثمانينات بمختلف دول العالم على أن منح رخصة مزاولة مهنة التدريس قد تطور وفقا لثلاثة مراحل</a:t>
            </a:r>
            <a:r>
              <a:rPr lang="ar-SA" sz="3600" dirty="0" smtClean="0">
                <a:solidFill>
                  <a:schemeClr val="bg1"/>
                </a:solidFill>
              </a:rPr>
              <a:t>:</a:t>
            </a:r>
            <a:endParaRPr lang="ar-EG" sz="3600" dirty="0" smtClean="0">
              <a:solidFill>
                <a:schemeClr val="bg1"/>
              </a:solidFill>
            </a:endParaRPr>
          </a:p>
          <a:p>
            <a:pPr marL="571500" indent="-571500" algn="r" rtl="1">
              <a:buFont typeface="Wingdings" pitchFamily="2" charset="2"/>
              <a:buChar char="v"/>
            </a:pPr>
            <a:r>
              <a:rPr lang="ar-EG" sz="3600" b="1" dirty="0" smtClean="0">
                <a:solidFill>
                  <a:srgbClr val="C00000"/>
                </a:solidFill>
              </a:rPr>
              <a:t>المرحلة </a:t>
            </a:r>
            <a:r>
              <a:rPr lang="ar-SA" sz="3600" b="1" dirty="0" smtClean="0">
                <a:solidFill>
                  <a:srgbClr val="C00000"/>
                </a:solidFill>
              </a:rPr>
              <a:t>الأولى</a:t>
            </a:r>
            <a:r>
              <a:rPr lang="ar-SA" sz="3600" b="1" dirty="0">
                <a:solidFill>
                  <a:srgbClr val="C00000"/>
                </a:solidFill>
              </a:rPr>
              <a:t>:</a:t>
            </a:r>
            <a:r>
              <a:rPr lang="ar-SA" sz="3600" dirty="0">
                <a:solidFill>
                  <a:srgbClr val="C00000"/>
                </a:solidFill>
              </a:rPr>
              <a:t> </a:t>
            </a:r>
            <a:r>
              <a:rPr lang="ar-SA" sz="3600" dirty="0" smtClean="0">
                <a:solidFill>
                  <a:srgbClr val="C00000"/>
                </a:solidFill>
              </a:rPr>
              <a:t>أكدت </a:t>
            </a:r>
            <a:r>
              <a:rPr lang="ar-SA" sz="3600" dirty="0">
                <a:solidFill>
                  <a:srgbClr val="C00000"/>
                </a:solidFill>
              </a:rPr>
              <a:t>على ضرورة استخدام الاختبارات لمنح تراخيص مزاولة المهنة </a:t>
            </a:r>
            <a:r>
              <a:rPr lang="ar-SA" sz="3600" dirty="0">
                <a:solidFill>
                  <a:schemeClr val="bg1"/>
                </a:solidFill>
              </a:rPr>
              <a:t>وقد تكون اختبارات قومية على مستوى الدولة وعالمية فى حالة الاعتماد الوطني </a:t>
            </a:r>
            <a:r>
              <a:rPr lang="en-US" sz="3600" dirty="0">
                <a:solidFill>
                  <a:schemeClr val="bg1"/>
                </a:solidFill>
              </a:rPr>
              <a:t>national accreditation </a:t>
            </a:r>
            <a:r>
              <a:rPr lang="ar-SA" sz="3600" dirty="0">
                <a:solidFill>
                  <a:schemeClr val="bg1"/>
                </a:solidFill>
              </a:rPr>
              <a:t>حيث يقوم </a:t>
            </a:r>
            <a:r>
              <a:rPr lang="ar-SA" sz="3600" dirty="0">
                <a:solidFill>
                  <a:srgbClr val="FF0000"/>
                </a:solidFill>
              </a:rPr>
              <a:t>المجلس القومى لاعتماد المعلمين بمهمة اعتماد المعلمين </a:t>
            </a:r>
            <a:r>
              <a:rPr lang="en-US" sz="3600" dirty="0">
                <a:solidFill>
                  <a:schemeClr val="bg1"/>
                </a:solidFill>
              </a:rPr>
              <a:t>national council for accreditation of teacher education</a:t>
            </a:r>
          </a:p>
        </p:txBody>
      </p:sp>
    </p:spTree>
    <p:extLst>
      <p:ext uri="{BB962C8B-B14F-4D97-AF65-F5344CB8AC3E}">
        <p14:creationId xmlns:p14="http://schemas.microsoft.com/office/powerpoint/2010/main" val="125703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476672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buFont typeface="Wingdings" pitchFamily="2" charset="2"/>
              <a:buChar char="v"/>
            </a:pPr>
            <a:r>
              <a:rPr lang="ar-SA" sz="3600" b="1" dirty="0">
                <a:solidFill>
                  <a:srgbClr val="FF0000"/>
                </a:solidFill>
              </a:rPr>
              <a:t>المرحله الثانية</a:t>
            </a:r>
            <a:r>
              <a:rPr lang="ar-SA" sz="3600" dirty="0">
                <a:solidFill>
                  <a:srgbClr val="FF0000"/>
                </a:solidFill>
              </a:rPr>
              <a:t> </a:t>
            </a:r>
            <a:r>
              <a:rPr lang="ar-SA" sz="3600" dirty="0" smtClean="0">
                <a:solidFill>
                  <a:srgbClr val="FF0000"/>
                </a:solidFill>
              </a:rPr>
              <a:t>:</a:t>
            </a:r>
            <a:r>
              <a:rPr lang="ar-EG" sz="3600" dirty="0" smtClean="0">
                <a:solidFill>
                  <a:srgbClr val="FF0000"/>
                </a:solidFill>
              </a:rPr>
              <a:t> </a:t>
            </a:r>
            <a:r>
              <a:rPr lang="ar-SA" sz="3600" dirty="0" smtClean="0">
                <a:solidFill>
                  <a:srgbClr val="FF0000"/>
                </a:solidFill>
              </a:rPr>
              <a:t>بدأ </a:t>
            </a:r>
            <a:r>
              <a:rPr lang="ar-SA" sz="3600" dirty="0">
                <a:solidFill>
                  <a:srgbClr val="FF0000"/>
                </a:solidFill>
              </a:rPr>
              <a:t>التحول إلى تقييم أداء المعلم </a:t>
            </a:r>
            <a:r>
              <a:rPr lang="ar-SA" sz="3600" dirty="0">
                <a:solidFill>
                  <a:schemeClr val="bg1"/>
                </a:solidFill>
              </a:rPr>
              <a:t>من خلال تصميم أدوات لتقييم أدائه وتحديد الكفايات اللازمة له لممارسة المهنة وتضمنت هذه الأدوات اختبار منح شهادة التدريس، بحيث تتضمن ثلاثة </a:t>
            </a:r>
            <a:r>
              <a:rPr lang="ar-SA" sz="3600" dirty="0" smtClean="0">
                <a:solidFill>
                  <a:schemeClr val="bg1"/>
                </a:solidFill>
              </a:rPr>
              <a:t>مجالات</a:t>
            </a:r>
            <a:r>
              <a:rPr lang="ar-EG" sz="3600" dirty="0" smtClean="0">
                <a:solidFill>
                  <a:schemeClr val="bg1"/>
                </a:solidFill>
              </a:rPr>
              <a:t>:</a:t>
            </a:r>
            <a:r>
              <a:rPr lang="ar-SA" sz="3600" dirty="0" smtClean="0"/>
              <a:t> </a:t>
            </a:r>
            <a:r>
              <a:rPr lang="ar-SA" sz="3600" dirty="0">
                <a:solidFill>
                  <a:srgbClr val="FF0000"/>
                </a:solidFill>
              </a:rPr>
              <a:t>ا</a:t>
            </a:r>
            <a:r>
              <a:rPr lang="ar-SA" sz="3600" u="sng" dirty="0">
                <a:solidFill>
                  <a:srgbClr val="FF0000"/>
                </a:solidFill>
              </a:rPr>
              <a:t>لأول</a:t>
            </a:r>
            <a:r>
              <a:rPr lang="ar-SA" sz="3600" dirty="0"/>
              <a:t> </a:t>
            </a:r>
            <a:r>
              <a:rPr lang="ar-EG" sz="3600" dirty="0" smtClean="0">
                <a:solidFill>
                  <a:schemeClr val="bg1"/>
                </a:solidFill>
              </a:rPr>
              <a:t>إ</a:t>
            </a:r>
            <a:r>
              <a:rPr lang="ar-SA" sz="3600" dirty="0" smtClean="0">
                <a:solidFill>
                  <a:schemeClr val="bg1"/>
                </a:solidFill>
              </a:rPr>
              <a:t>طار </a:t>
            </a:r>
            <a:r>
              <a:rPr lang="ar-SA" sz="3600" dirty="0">
                <a:solidFill>
                  <a:schemeClr val="bg1"/>
                </a:solidFill>
              </a:rPr>
              <a:t>عام لمعلومات المعلمين المبتدئين ومهارتهم مع تحليل الأداء التدريسي وتحديد درجته </a:t>
            </a:r>
            <a:r>
              <a:rPr lang="ar-SA" sz="3600" u="sng" dirty="0">
                <a:solidFill>
                  <a:srgbClr val="FF0000"/>
                </a:solidFill>
              </a:rPr>
              <a:t>والثاني</a:t>
            </a:r>
            <a:r>
              <a:rPr lang="ar-SA" sz="3600" dirty="0">
                <a:solidFill>
                  <a:schemeClr val="bg1"/>
                </a:solidFill>
              </a:rPr>
              <a:t> : يتضمن المهارات الأكاديمية الأساسية ،</a:t>
            </a:r>
            <a:r>
              <a:rPr lang="ar-SA" sz="3600" dirty="0" smtClean="0">
                <a:solidFill>
                  <a:srgbClr val="FF0000"/>
                </a:solidFill>
              </a:rPr>
              <a:t>و</a:t>
            </a:r>
            <a:r>
              <a:rPr lang="ar-SA" sz="3600" u="sng" dirty="0" smtClean="0">
                <a:solidFill>
                  <a:srgbClr val="FF0000"/>
                </a:solidFill>
              </a:rPr>
              <a:t>الثالث:</a:t>
            </a:r>
            <a:r>
              <a:rPr lang="ar-SA" sz="3600" dirty="0" smtClean="0">
                <a:solidFill>
                  <a:schemeClr val="bg1"/>
                </a:solidFill>
              </a:rPr>
              <a:t>يقيس</a:t>
            </a:r>
            <a:r>
              <a:rPr lang="ar-EG" sz="3600" dirty="0" smtClean="0">
                <a:solidFill>
                  <a:schemeClr val="bg1"/>
                </a:solidFill>
              </a:rPr>
              <a:t> </a:t>
            </a:r>
            <a:r>
              <a:rPr lang="ar-SA" sz="3600" dirty="0" smtClean="0">
                <a:solidFill>
                  <a:schemeClr val="bg1"/>
                </a:solidFill>
              </a:rPr>
              <a:t>المعلومات </a:t>
            </a:r>
            <a:r>
              <a:rPr lang="ar-SA" sz="3600" dirty="0">
                <a:solidFill>
                  <a:schemeClr val="bg1"/>
                </a:solidFill>
              </a:rPr>
              <a:t>عن المادة التي يدرسها </a:t>
            </a:r>
            <a:r>
              <a:rPr lang="ar-SA" sz="3600" dirty="0" smtClean="0">
                <a:solidFill>
                  <a:schemeClr val="bg1"/>
                </a:solidFill>
              </a:rPr>
              <a:t>المعلم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  <a:r>
              <a:rPr lang="ar-SA" sz="3600" dirty="0" smtClean="0">
                <a:solidFill>
                  <a:schemeClr val="bg1"/>
                </a:solidFill>
              </a:rPr>
              <a:t> 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 algn="r" rtl="1">
              <a:buFont typeface="Wingdings" pitchFamily="2" charset="2"/>
              <a:buChar char="v"/>
            </a:pPr>
            <a:r>
              <a:rPr lang="ar-SA" sz="3600" b="1" dirty="0" smtClean="0">
                <a:solidFill>
                  <a:srgbClr val="C00000"/>
                </a:solidFill>
              </a:rPr>
              <a:t>وفى </a:t>
            </a:r>
            <a:r>
              <a:rPr lang="ar-SA" sz="3600" b="1" dirty="0">
                <a:solidFill>
                  <a:srgbClr val="C00000"/>
                </a:solidFill>
              </a:rPr>
              <a:t>المرحله الثالثة</a:t>
            </a:r>
            <a:r>
              <a:rPr lang="ar-SA" sz="3600" dirty="0">
                <a:solidFill>
                  <a:srgbClr val="C00000"/>
                </a:solidFill>
              </a:rPr>
              <a:t> : </a:t>
            </a:r>
            <a:r>
              <a:rPr lang="ar-SA" sz="3600" dirty="0">
                <a:solidFill>
                  <a:schemeClr val="bg1"/>
                </a:solidFill>
              </a:rPr>
              <a:t>برزت حركة تقييم الأداء اعتمادا على المعايير. </a:t>
            </a:r>
            <a:r>
              <a:rPr lang="en-US" sz="3600" dirty="0">
                <a:solidFill>
                  <a:schemeClr val="bg1"/>
                </a:solidFill>
              </a:rPr>
              <a:t>performance based </a:t>
            </a:r>
            <a:r>
              <a:rPr lang="en-US" sz="3600" dirty="0" smtClean="0">
                <a:solidFill>
                  <a:schemeClr val="bg1"/>
                </a:solidFill>
              </a:rPr>
              <a:t>standard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315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664607"/>
            <a:ext cx="2258666" cy="16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688848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664607"/>
            <a:ext cx="268605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3528" y="332656"/>
            <a:ext cx="82089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3200" dirty="0">
                <a:solidFill>
                  <a:schemeClr val="bg1"/>
                </a:solidFill>
              </a:rPr>
              <a:t>وتعتبر الولايات المتحدة الأمريكية من أوائل الدول التي طبقت تمهين التعليم عام </a:t>
            </a:r>
            <a:r>
              <a:rPr lang="ar-SA" sz="3200" dirty="0" smtClean="0">
                <a:solidFill>
                  <a:schemeClr val="bg1"/>
                </a:solidFill>
              </a:rPr>
              <a:t>۱۹۸۷م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</a:p>
          <a:p>
            <a:pPr marL="457200" indent="-4572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rgbClr val="FFC000"/>
                </a:solidFill>
              </a:rPr>
              <a:t> </a:t>
            </a:r>
            <a:r>
              <a:rPr lang="ar-SA" sz="3200" dirty="0" smtClean="0">
                <a:solidFill>
                  <a:srgbClr val="C00000"/>
                </a:solidFill>
              </a:rPr>
              <a:t>وطبقت نظام الاعتماد المهني للمعلم </a:t>
            </a:r>
            <a:r>
              <a:rPr lang="ar-SA" sz="3200" dirty="0" smtClean="0">
                <a:solidFill>
                  <a:schemeClr val="bg1"/>
                </a:solidFill>
              </a:rPr>
              <a:t>فى جميع ولاياتها وأصبحت رخصة التعليم شرطا لازما لكل معلم للسماح له بممارسة مهنة التعليم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</a:p>
          <a:p>
            <a:pPr marL="457200" indent="-457200" algn="r" rtl="1">
              <a:buFont typeface="Wingdings" pitchFamily="2" charset="2"/>
              <a:buChar char="v"/>
            </a:pPr>
            <a:r>
              <a:rPr lang="ar-EG" sz="3200" dirty="0" smtClean="0">
                <a:solidFill>
                  <a:srgbClr val="FF0000"/>
                </a:solidFill>
              </a:rPr>
              <a:t>و</a:t>
            </a:r>
            <a:r>
              <a:rPr lang="ar-SA" sz="3200" dirty="0" smtClean="0">
                <a:solidFill>
                  <a:srgbClr val="FF0000"/>
                </a:solidFill>
              </a:rPr>
              <a:t>هذا </a:t>
            </a:r>
            <a:r>
              <a:rPr lang="ar-SA" sz="3200" dirty="0">
                <a:solidFill>
                  <a:srgbClr val="FF0000"/>
                </a:solidFill>
              </a:rPr>
              <a:t>الإجراء أسهم بفاعلية في تعزيز مكانة التعليم فى الولايات المتحدة </a:t>
            </a:r>
            <a:r>
              <a:rPr lang="ar-SA" sz="3200" dirty="0" smtClean="0">
                <a:solidFill>
                  <a:srgbClr val="FF0000"/>
                </a:solidFill>
              </a:rPr>
              <a:t>الأمريكية</a:t>
            </a:r>
            <a:r>
              <a:rPr lang="ar-SA" sz="3200" dirty="0" smtClean="0">
                <a:solidFill>
                  <a:schemeClr val="bg1"/>
                </a:solidFill>
              </a:rPr>
              <a:t>،</a:t>
            </a:r>
            <a:r>
              <a:rPr lang="ar-EG" sz="3200" dirty="0" smtClean="0">
                <a:solidFill>
                  <a:schemeClr val="bg1"/>
                </a:solidFill>
              </a:rPr>
              <a:t> </a:t>
            </a:r>
            <a:r>
              <a:rPr lang="ar-SA" sz="3200" dirty="0" smtClean="0">
                <a:solidFill>
                  <a:schemeClr val="bg1"/>
                </a:solidFill>
              </a:rPr>
              <a:t>وجعلها </a:t>
            </a:r>
            <a:r>
              <a:rPr lang="ar-SA" sz="3200" dirty="0">
                <a:solidFill>
                  <a:schemeClr val="bg1"/>
                </a:solidFill>
              </a:rPr>
              <a:t>تحافظ على هويتها التنظيمية والتعليمية و الاجتماعية والثقافية و العسكرية .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953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87032" y="332656"/>
            <a:ext cx="5173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3600" b="1" dirty="0">
                <a:solidFill>
                  <a:srgbClr val="FF0000"/>
                </a:solidFill>
              </a:rPr>
              <a:t>فوائد الرخصة المهنية للمعلمين: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496" y="978987"/>
            <a:ext cx="84969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sz="3600" dirty="0" smtClean="0">
                <a:solidFill>
                  <a:srgbClr val="FF0000"/>
                </a:solidFill>
              </a:rPr>
              <a:t>1</a:t>
            </a:r>
            <a:r>
              <a:rPr lang="ar-SA" sz="3600" dirty="0" smtClean="0">
                <a:solidFill>
                  <a:srgbClr val="FF0000"/>
                </a:solidFill>
              </a:rPr>
              <a:t>- </a:t>
            </a:r>
            <a:r>
              <a:rPr lang="ar-SA" sz="3600" dirty="0">
                <a:solidFill>
                  <a:srgbClr val="FF0000"/>
                </a:solidFill>
              </a:rPr>
              <a:t>الارتقاء بمستوى تعليم الطلبة </a:t>
            </a:r>
            <a:r>
              <a:rPr lang="ar-SA" sz="3600" dirty="0">
                <a:solidFill>
                  <a:schemeClr val="bg1"/>
                </a:solidFill>
              </a:rPr>
              <a:t>في ضوء الممارسات الحديثة والعالمية.</a:t>
            </a:r>
            <a:endParaRPr lang="en-US" sz="3600" dirty="0">
              <a:solidFill>
                <a:schemeClr val="bg1"/>
              </a:solidFill>
            </a:endParaRPr>
          </a:p>
          <a:p>
            <a:pPr algn="r" rtl="1"/>
            <a:r>
              <a:rPr lang="ar-SA" sz="3600" dirty="0">
                <a:solidFill>
                  <a:srgbClr val="FF0000"/>
                </a:solidFill>
              </a:rPr>
              <a:t>2 - التركيز على التطوير المستمر للمعلم </a:t>
            </a:r>
            <a:r>
              <a:rPr lang="ar-SA" sz="3600" dirty="0">
                <a:solidFill>
                  <a:schemeClr val="bg1"/>
                </a:solidFill>
              </a:rPr>
              <a:t>ورفع مستوى كفاءته </a:t>
            </a:r>
            <a:r>
              <a:rPr lang="ar-SA" sz="3600" dirty="0" smtClean="0">
                <a:solidFill>
                  <a:schemeClr val="bg1"/>
                </a:solidFill>
              </a:rPr>
              <a:t>المهنية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  <a:endParaRPr lang="en-US" sz="3600" dirty="0">
              <a:solidFill>
                <a:schemeClr val="bg1"/>
              </a:solidFill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</a:rPr>
              <a:t>3- تسليط الضوء على الكفاءات المتميزه في مجال التعليم </a:t>
            </a:r>
            <a:endParaRPr lang="en-US" sz="3600" dirty="0">
              <a:solidFill>
                <a:schemeClr val="bg1"/>
              </a:solidFill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</a:rPr>
              <a:t>4- الوصول إلى المعايير العالمية في التعليم المتقدم</a:t>
            </a:r>
            <a:endParaRPr lang="en-US" sz="3600" dirty="0">
              <a:solidFill>
                <a:schemeClr val="bg1"/>
              </a:solidFill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</a:rPr>
              <a:t>5- حصر القدرات المختلفة للمعلمين.</a:t>
            </a:r>
            <a:endParaRPr lang="en-US" sz="3600" dirty="0">
              <a:solidFill>
                <a:schemeClr val="bg1"/>
              </a:solidFill>
            </a:endParaRPr>
          </a:p>
          <a:p>
            <a:pPr algn="r" rtl="1"/>
            <a:r>
              <a:rPr lang="ar-SA" sz="3600" dirty="0" smtClean="0">
                <a:solidFill>
                  <a:schemeClr val="bg1"/>
                </a:solidFill>
              </a:rPr>
              <a:t>6-استثمار </a:t>
            </a:r>
            <a:r>
              <a:rPr lang="ar-SA" sz="3600" dirty="0">
                <a:solidFill>
                  <a:schemeClr val="bg1"/>
                </a:solidFill>
              </a:rPr>
              <a:t>الكادر المتميز للتطوير في </a:t>
            </a:r>
            <a:r>
              <a:rPr lang="ar-SA" sz="3600" dirty="0" smtClean="0">
                <a:solidFill>
                  <a:schemeClr val="bg1"/>
                </a:solidFill>
              </a:rPr>
              <a:t>دعم</a:t>
            </a:r>
            <a:r>
              <a:rPr lang="ar-EG" sz="3600" dirty="0" smtClean="0">
                <a:solidFill>
                  <a:schemeClr val="bg1"/>
                </a:solidFill>
              </a:rPr>
              <a:t> ال</a:t>
            </a:r>
            <a:r>
              <a:rPr lang="ar-SA" sz="3600" dirty="0" smtClean="0">
                <a:solidFill>
                  <a:schemeClr val="bg1"/>
                </a:solidFill>
              </a:rPr>
              <a:t>عملية الت</a:t>
            </a:r>
            <a:r>
              <a:rPr lang="ar-EG" sz="3600" dirty="0" smtClean="0">
                <a:solidFill>
                  <a:schemeClr val="bg1"/>
                </a:solidFill>
              </a:rPr>
              <a:t>عليمة</a:t>
            </a:r>
            <a:endParaRPr lang="en-US" sz="3600" dirty="0">
              <a:solidFill>
                <a:schemeClr val="bg1"/>
              </a:solidFill>
            </a:endParaRPr>
          </a:p>
          <a:p>
            <a:pPr algn="r"/>
            <a:r>
              <a:rPr lang="ar-SA" sz="3600" dirty="0">
                <a:solidFill>
                  <a:schemeClr val="bg1"/>
                </a:solidFill>
              </a:rPr>
              <a:t>7-دفع المختصين للإبداع في مجال </a:t>
            </a:r>
            <a:r>
              <a:rPr lang="ar-SA" sz="3600" dirty="0" smtClean="0">
                <a:solidFill>
                  <a:schemeClr val="bg1"/>
                </a:solidFill>
              </a:rPr>
              <a:t>اختصاصهم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  <a:r>
              <a:rPr lang="ar-SA" sz="3600" dirty="0" smtClean="0">
                <a:solidFill>
                  <a:schemeClr val="bg1"/>
                </a:solidFill>
              </a:rPr>
              <a:t> </a:t>
            </a:r>
            <a:endParaRPr lang="ar-EG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39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260648"/>
            <a:ext cx="856895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sz="3600" dirty="0" smtClean="0">
                <a:solidFill>
                  <a:schemeClr val="bg1"/>
                </a:solidFill>
                <a:cs typeface="+mj-cs"/>
              </a:rPr>
              <a:t>8- </a:t>
            </a:r>
            <a:r>
              <a:rPr lang="ar-SA" sz="3600" dirty="0" smtClean="0">
                <a:solidFill>
                  <a:schemeClr val="bg1"/>
                </a:solidFill>
                <a:cs typeface="+mj-cs"/>
              </a:rPr>
              <a:t>الارتقاء </a:t>
            </a:r>
            <a:r>
              <a:rPr lang="ar-SA" sz="3600" dirty="0">
                <a:solidFill>
                  <a:schemeClr val="bg1"/>
                </a:solidFill>
                <a:cs typeface="+mj-cs"/>
              </a:rPr>
              <a:t>بمخرجات مهنة </a:t>
            </a:r>
            <a:r>
              <a:rPr lang="ar-SA" sz="3600" dirty="0" smtClean="0">
                <a:solidFill>
                  <a:schemeClr val="bg1"/>
                </a:solidFill>
                <a:cs typeface="+mj-cs"/>
              </a:rPr>
              <a:t>التعليم</a:t>
            </a:r>
            <a:r>
              <a:rPr lang="ar-EG" sz="3600" dirty="0" smtClean="0">
                <a:solidFill>
                  <a:schemeClr val="bg1"/>
                </a:solidFill>
                <a:cs typeface="+mj-cs"/>
              </a:rPr>
              <a:t>.</a:t>
            </a:r>
            <a:endParaRPr lang="en-US" sz="3600" dirty="0">
              <a:solidFill>
                <a:schemeClr val="bg1"/>
              </a:solidFill>
              <a:cs typeface="+mj-cs"/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  <a:cs typeface="+mj-cs"/>
              </a:rPr>
              <a:t>9- التزام منسوبي مهنة التعليم بكل المعايير الخاصة </a:t>
            </a:r>
            <a:r>
              <a:rPr lang="ar-SA" sz="3600" dirty="0" smtClean="0">
                <a:solidFill>
                  <a:schemeClr val="bg1"/>
                </a:solidFill>
                <a:cs typeface="+mj-cs"/>
              </a:rPr>
              <a:t>بها</a:t>
            </a:r>
            <a:r>
              <a:rPr lang="ar-EG" sz="3600" dirty="0" smtClean="0">
                <a:solidFill>
                  <a:schemeClr val="bg1"/>
                </a:solidFill>
                <a:cs typeface="+mj-cs"/>
              </a:rPr>
              <a:t>.</a:t>
            </a:r>
            <a:r>
              <a:rPr lang="ar-SA" sz="3600" dirty="0" smtClean="0">
                <a:solidFill>
                  <a:schemeClr val="bg1"/>
                </a:solidFill>
                <a:cs typeface="+mj-cs"/>
              </a:rPr>
              <a:t> </a:t>
            </a:r>
            <a:endParaRPr lang="en-US" sz="3600" dirty="0">
              <a:solidFill>
                <a:schemeClr val="bg1"/>
              </a:solidFill>
              <a:cs typeface="+mj-cs"/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  <a:cs typeface="+mj-cs"/>
              </a:rPr>
              <a:t>10 - وضع برامج تدريبية ذات جودة عالية قبل و أثناء الخدمة .</a:t>
            </a:r>
            <a:endParaRPr lang="en-US" sz="3600" dirty="0">
              <a:solidFill>
                <a:schemeClr val="bg1"/>
              </a:solidFill>
              <a:cs typeface="+mj-cs"/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  <a:cs typeface="+mj-cs"/>
              </a:rPr>
              <a:t>11-التقييم المستمر و المفاضلة بين المتقدمين لمزاولة </a:t>
            </a:r>
            <a:r>
              <a:rPr lang="ar-EG" sz="3600" dirty="0" smtClean="0">
                <a:solidFill>
                  <a:schemeClr val="bg1"/>
                </a:solidFill>
                <a:cs typeface="+mj-cs"/>
              </a:rPr>
              <a:t>    </a:t>
            </a:r>
            <a:r>
              <a:rPr lang="ar-SA" sz="3600" dirty="0" smtClean="0">
                <a:solidFill>
                  <a:schemeClr val="bg1"/>
                </a:solidFill>
                <a:cs typeface="+mj-cs"/>
              </a:rPr>
              <a:t>مهنئة </a:t>
            </a:r>
            <a:r>
              <a:rPr lang="ar-SA" sz="3600" dirty="0">
                <a:solidFill>
                  <a:schemeClr val="bg1"/>
                </a:solidFill>
                <a:cs typeface="+mj-cs"/>
              </a:rPr>
              <a:t>التعليم قبل الخدمة .</a:t>
            </a:r>
            <a:endParaRPr lang="en-US" sz="3600" dirty="0">
              <a:solidFill>
                <a:schemeClr val="bg1"/>
              </a:solidFill>
              <a:cs typeface="+mj-cs"/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  <a:cs typeface="+mj-cs"/>
              </a:rPr>
              <a:t>12- التخلص من العوائق والبعد عن الروتين والحرص على مواجهة واقع مختلف وتوفير الأجواء المناسبه لتحقيق الأهداف.</a:t>
            </a:r>
            <a:endParaRPr lang="en-US" sz="3600" dirty="0">
              <a:solidFill>
                <a:schemeClr val="bg1"/>
              </a:solidFill>
              <a:cs typeface="+mj-cs"/>
            </a:endParaRPr>
          </a:p>
          <a:p>
            <a:pPr algn="r" rtl="1"/>
            <a:r>
              <a:rPr lang="ar-SA" sz="3600" dirty="0">
                <a:solidFill>
                  <a:schemeClr val="bg1"/>
                </a:solidFill>
                <a:cs typeface="+mj-cs"/>
              </a:rPr>
              <a:t>13- التوعية الاعلامية بمكانة المعلم والحث على تصديره ورفع مكانته ادبيا ومعنويا.</a:t>
            </a:r>
            <a:endParaRPr lang="en-US" sz="3600" dirty="0">
              <a:solidFill>
                <a:schemeClr val="bg1"/>
              </a:solidFill>
              <a:cs typeface="+mj-cs"/>
            </a:endParaRPr>
          </a:p>
          <a:p>
            <a:pPr rtl="1"/>
            <a:r>
              <a:rPr lang="ar-SA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10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692696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ar-EG" sz="3600" b="1" dirty="0" smtClean="0"/>
              <a:t>  </a:t>
            </a:r>
            <a:r>
              <a:rPr lang="ar-EG" sz="3600" b="1" dirty="0" smtClean="0">
                <a:solidFill>
                  <a:schemeClr val="bg1"/>
                </a:solidFill>
              </a:rPr>
              <a:t>- </a:t>
            </a:r>
            <a:r>
              <a:rPr lang="ar-EG" sz="3600" b="1" dirty="0" smtClean="0">
                <a:solidFill>
                  <a:srgbClr val="C00000"/>
                </a:solidFill>
              </a:rPr>
              <a:t>استحوذت  </a:t>
            </a:r>
            <a:r>
              <a:rPr lang="ar-SA" sz="3600" b="1" dirty="0" smtClean="0">
                <a:solidFill>
                  <a:srgbClr val="C00000"/>
                </a:solidFill>
              </a:rPr>
              <a:t>نظام </a:t>
            </a:r>
            <a:r>
              <a:rPr lang="ar-SA" sz="3600" b="1" dirty="0">
                <a:solidFill>
                  <a:srgbClr val="C00000"/>
                </a:solidFill>
              </a:rPr>
              <a:t>المحاسبية والمساءلة القائمة على أداء المعلم </a:t>
            </a:r>
            <a:r>
              <a:rPr lang="ar-SA" sz="3600" b="1" dirty="0">
                <a:solidFill>
                  <a:schemeClr val="bg1"/>
                </a:solidFill>
              </a:rPr>
              <a:t>في الأونة الأخيرة على اهتمام الباحثين فنظام المحاسبة يقدم المعرفة البنائية التي يتم على أساسها تحسين جودة أداء المعلم في برامج كليات التربية ثم بعد ذلك يتم اختبار المعلم </a:t>
            </a:r>
            <a:r>
              <a:rPr lang="ar-SA" sz="3600" b="1" dirty="0">
                <a:solidFill>
                  <a:srgbClr val="FF0000"/>
                </a:solidFill>
              </a:rPr>
              <a:t>ولا يعطى رخصة لمزاولة مهنة التعليم إلا إذا نجح في هذا </a:t>
            </a:r>
            <a:r>
              <a:rPr lang="ar-SA" sz="3600" b="1" dirty="0" smtClean="0">
                <a:solidFill>
                  <a:srgbClr val="FF0000"/>
                </a:solidFill>
              </a:rPr>
              <a:t>الاختبار</a:t>
            </a:r>
            <a:r>
              <a:rPr lang="ar-EG" sz="3600" b="1" dirty="0" smtClean="0">
                <a:solidFill>
                  <a:srgbClr val="FF0000"/>
                </a:solidFill>
              </a:rPr>
              <a:t>.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endParaRPr lang="ar-EG" sz="3600" b="1" dirty="0" smtClean="0">
              <a:solidFill>
                <a:srgbClr val="FF0000"/>
              </a:solidFill>
            </a:endParaRPr>
          </a:p>
          <a:p>
            <a:pPr algn="r"/>
            <a:r>
              <a:rPr lang="ar-EG" sz="3600" b="1" dirty="0" smtClean="0">
                <a:solidFill>
                  <a:schemeClr val="bg1"/>
                </a:solidFill>
              </a:rPr>
              <a:t>- </a:t>
            </a:r>
            <a:r>
              <a:rPr lang="ar-SA" sz="3600" b="1" dirty="0" smtClean="0">
                <a:solidFill>
                  <a:schemeClr val="bg1"/>
                </a:solidFill>
              </a:rPr>
              <a:t>تسمى </a:t>
            </a:r>
            <a:r>
              <a:rPr lang="ar-SA" sz="3600" b="1" dirty="0">
                <a:solidFill>
                  <a:schemeClr val="bg1"/>
                </a:solidFill>
              </a:rPr>
              <a:t>اختبارات قياس كفاءة المعلم في المادة التي يقوم بتدريسها وطرق وأساليب تعليمها باختبارات </a:t>
            </a:r>
            <a:r>
              <a:rPr lang="ar-SA" sz="3600" b="1" dirty="0">
                <a:solidFill>
                  <a:srgbClr val="FF0000"/>
                </a:solidFill>
              </a:rPr>
              <a:t>ترخيص مزاولة </a:t>
            </a:r>
            <a:r>
              <a:rPr lang="ar-SA" sz="3600" b="1" dirty="0" smtClean="0">
                <a:solidFill>
                  <a:srgbClr val="FF0000"/>
                </a:solidFill>
              </a:rPr>
              <a:t>المهنة</a:t>
            </a:r>
            <a:r>
              <a:rPr lang="ar-EG" sz="3600" b="1" dirty="0" smtClean="0">
                <a:solidFill>
                  <a:srgbClr val="FF0000"/>
                </a:solidFill>
              </a:rPr>
              <a:t>.</a:t>
            </a:r>
            <a:r>
              <a:rPr lang="ar-SA" dirty="0" smtClean="0">
                <a:solidFill>
                  <a:srgbClr val="FF0000"/>
                </a:solidFill>
              </a:rPr>
              <a:t> </a:t>
            </a:r>
            <a:endParaRPr lang="ar-E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70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662299"/>
            <a:ext cx="87849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ar-EG" sz="3600" dirty="0" smtClean="0"/>
              <a:t>- </a:t>
            </a:r>
            <a:r>
              <a:rPr lang="ar-SA" sz="3600" dirty="0" smtClean="0">
                <a:solidFill>
                  <a:schemeClr val="bg1"/>
                </a:solidFill>
              </a:rPr>
              <a:t>وتنقسم اختبارات ترخيص المعلم لمزاولة مهنة التدريس إلى قسمين 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</a:p>
          <a:p>
            <a:pPr algn="r"/>
            <a:r>
              <a:rPr lang="ar-EG" sz="3600" dirty="0" smtClean="0">
                <a:solidFill>
                  <a:srgbClr val="FFC000"/>
                </a:solidFill>
              </a:rPr>
              <a:t> </a:t>
            </a:r>
            <a:r>
              <a:rPr lang="ar-EG" sz="3600" dirty="0" smtClean="0">
                <a:solidFill>
                  <a:srgbClr val="FF0000"/>
                </a:solidFill>
              </a:rPr>
              <a:t>- </a:t>
            </a:r>
            <a:r>
              <a:rPr lang="ar-SA" sz="3600" dirty="0" smtClean="0">
                <a:solidFill>
                  <a:srgbClr val="FF0000"/>
                </a:solidFill>
              </a:rPr>
              <a:t>يتناول </a:t>
            </a:r>
            <a:r>
              <a:rPr lang="ar-SA" sz="3600" dirty="0">
                <a:solidFill>
                  <a:srgbClr val="FF0000"/>
                </a:solidFill>
              </a:rPr>
              <a:t>القسم </a:t>
            </a:r>
            <a:r>
              <a:rPr lang="ar-SA" sz="3600" dirty="0" smtClean="0">
                <a:solidFill>
                  <a:srgbClr val="FF0000"/>
                </a:solidFill>
              </a:rPr>
              <a:t>الأول</a:t>
            </a:r>
            <a:r>
              <a:rPr lang="ar-EG" sz="3600" dirty="0" smtClean="0">
                <a:solidFill>
                  <a:srgbClr val="FF0000"/>
                </a:solidFill>
              </a:rPr>
              <a:t>:</a:t>
            </a:r>
            <a:r>
              <a:rPr lang="ar-SA" sz="3600" dirty="0" smtClean="0">
                <a:solidFill>
                  <a:srgbClr val="FF0000"/>
                </a:solidFill>
              </a:rPr>
              <a:t> </a:t>
            </a:r>
            <a:r>
              <a:rPr lang="ar-SA" sz="3600" dirty="0">
                <a:solidFill>
                  <a:srgbClr val="FF0000"/>
                </a:solidFill>
              </a:rPr>
              <a:t>قياس الجانب المعرفي لمعايير الاعتماد المهني للمعلم أو المعايير الجودة ، </a:t>
            </a:r>
            <a:r>
              <a:rPr lang="ar-SA" sz="3600" dirty="0">
                <a:solidFill>
                  <a:schemeClr val="bg1"/>
                </a:solidFill>
              </a:rPr>
              <a:t>وتحاول معظم الأنظمة التعليمية جاهدة تطبيق هذا النوع من الاختبارات على المعلمين الجدد قبل ممارستهم للمهنة وعلى مدار حياتهم </a:t>
            </a:r>
            <a:r>
              <a:rPr lang="ar-SA" sz="3600" dirty="0" smtClean="0">
                <a:solidFill>
                  <a:schemeClr val="bg1"/>
                </a:solidFill>
              </a:rPr>
              <a:t>المهنية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</a:p>
          <a:p>
            <a:pPr algn="r"/>
            <a:r>
              <a:rPr lang="ar-SA" sz="3600" dirty="0" smtClean="0"/>
              <a:t> </a:t>
            </a:r>
            <a:r>
              <a:rPr lang="ar-EG" sz="3600" dirty="0" smtClean="0">
                <a:solidFill>
                  <a:srgbClr val="FF0000"/>
                </a:solidFill>
              </a:rPr>
              <a:t>-</a:t>
            </a:r>
            <a:r>
              <a:rPr lang="ar-EG" sz="3600" dirty="0" smtClean="0"/>
              <a:t> </a:t>
            </a:r>
            <a:r>
              <a:rPr lang="ar-SA" sz="3600" dirty="0" smtClean="0">
                <a:solidFill>
                  <a:srgbClr val="C00000"/>
                </a:solidFill>
              </a:rPr>
              <a:t>كل </a:t>
            </a:r>
            <a:r>
              <a:rPr lang="ar-SA" sz="3600" dirty="0">
                <a:solidFill>
                  <a:srgbClr val="C00000"/>
                </a:solidFill>
              </a:rPr>
              <a:t>فترة زمنية تتراوح من 3إلى 5 سنوات </a:t>
            </a:r>
            <a:r>
              <a:rPr lang="ar-SA" sz="3600" dirty="0">
                <a:solidFill>
                  <a:schemeClr val="bg1"/>
                </a:solidFill>
              </a:rPr>
              <a:t>لضمان استمرارية جودة الأداء التي تنعكس فعاليتها على جودة أداء </a:t>
            </a:r>
            <a:r>
              <a:rPr lang="ar-SA" sz="3600" dirty="0" smtClean="0">
                <a:solidFill>
                  <a:schemeClr val="bg1"/>
                </a:solidFill>
              </a:rPr>
              <a:t>الطالب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  <a:endParaRPr lang="ar-EG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232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728" y="796993"/>
            <a:ext cx="8856984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buFont typeface="Wingdings" pitchFamily="2" charset="2"/>
              <a:buChar char="v"/>
            </a:pPr>
            <a:r>
              <a:rPr lang="ar-SA" sz="3600" dirty="0">
                <a:solidFill>
                  <a:srgbClr val="FF0000"/>
                </a:solidFill>
              </a:rPr>
              <a:t>القسم </a:t>
            </a:r>
            <a:r>
              <a:rPr lang="ar-SA" sz="3600" dirty="0" smtClean="0">
                <a:solidFill>
                  <a:srgbClr val="FF0000"/>
                </a:solidFill>
              </a:rPr>
              <a:t>الثاني</a:t>
            </a:r>
            <a:r>
              <a:rPr lang="ar-EG" sz="3600" dirty="0" smtClean="0">
                <a:solidFill>
                  <a:srgbClr val="FF0000"/>
                </a:solidFill>
              </a:rPr>
              <a:t>:</a:t>
            </a:r>
            <a:r>
              <a:rPr lang="ar-SA" sz="3600" dirty="0" smtClean="0">
                <a:solidFill>
                  <a:srgbClr val="FF0000"/>
                </a:solidFill>
              </a:rPr>
              <a:t> </a:t>
            </a:r>
            <a:r>
              <a:rPr lang="ar-SA" sz="3600" dirty="0">
                <a:solidFill>
                  <a:srgbClr val="FF0000"/>
                </a:solidFill>
              </a:rPr>
              <a:t>من اختبارات الترخيص اختبارات متخصصة طبقا لمتطلبات المهنة</a:t>
            </a:r>
            <a:r>
              <a:rPr lang="ar-SA" sz="3600" dirty="0">
                <a:solidFill>
                  <a:schemeClr val="bg1"/>
                </a:solidFill>
              </a:rPr>
              <a:t>، كمهارات إدارة الفصل والكفاءة اللغوية والتحدث والاستماع واستخدام الكمبيوتر في التدريس وتقويم </a:t>
            </a:r>
            <a:r>
              <a:rPr lang="ar-SA" sz="3600" dirty="0" smtClean="0">
                <a:solidFill>
                  <a:schemeClr val="bg1"/>
                </a:solidFill>
              </a:rPr>
              <a:t>الطلاب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  <a:r>
              <a:rPr lang="ar-SA" sz="3600" dirty="0" smtClean="0">
                <a:solidFill>
                  <a:schemeClr val="bg1"/>
                </a:solidFill>
              </a:rPr>
              <a:t> 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 algn="r" rtl="1">
              <a:buFont typeface="Wingdings" pitchFamily="2" charset="2"/>
              <a:buChar char="v"/>
            </a:pPr>
            <a:r>
              <a:rPr lang="ar-SA" sz="3600" b="1" u="sng" dirty="0">
                <a:solidFill>
                  <a:srgbClr val="FF0000"/>
                </a:solidFill>
              </a:rPr>
              <a:t>وقد اجريت دراسة لتعرف أثر ثلاثة عوامل في جودة أداء المعلم هي :</a:t>
            </a:r>
            <a:endParaRPr lang="en-US" sz="3600" dirty="0">
              <a:solidFill>
                <a:srgbClr val="FF0000"/>
              </a:solidFill>
            </a:endParaRPr>
          </a:p>
          <a:p>
            <a:pPr algn="r" rtl="1"/>
            <a:r>
              <a:rPr lang="ar-SA" sz="3600" dirty="0" smtClean="0">
                <a:solidFill>
                  <a:schemeClr val="bg1"/>
                </a:solidFill>
              </a:rPr>
              <a:t>1</a:t>
            </a:r>
            <a:r>
              <a:rPr lang="ar-EG" sz="3600" dirty="0" smtClean="0">
                <a:solidFill>
                  <a:schemeClr val="bg1"/>
                </a:solidFill>
              </a:rPr>
              <a:t>- </a:t>
            </a:r>
            <a:r>
              <a:rPr lang="ar-SA" sz="3600" dirty="0" smtClean="0">
                <a:solidFill>
                  <a:schemeClr val="bg1"/>
                </a:solidFill>
              </a:rPr>
              <a:t> </a:t>
            </a:r>
            <a:r>
              <a:rPr lang="ar-SA" sz="3600" dirty="0">
                <a:solidFill>
                  <a:schemeClr val="bg1"/>
                </a:solidFill>
              </a:rPr>
              <a:t>المؤهلات العلمية </a:t>
            </a:r>
            <a:r>
              <a:rPr lang="ar-SA" sz="3600" dirty="0" smtClean="0">
                <a:solidFill>
                  <a:schemeClr val="bg1"/>
                </a:solidFill>
              </a:rPr>
              <a:t>للمعلم</a:t>
            </a:r>
            <a:r>
              <a:rPr lang="ar-EG" sz="3600" dirty="0" smtClean="0">
                <a:solidFill>
                  <a:schemeClr val="bg1"/>
                </a:solidFill>
              </a:rPr>
              <a:t>.</a:t>
            </a:r>
            <a:endParaRPr lang="ar-EG" sz="3600" dirty="0">
              <a:solidFill>
                <a:schemeClr val="bg1"/>
              </a:solidFill>
            </a:endParaRPr>
          </a:p>
          <a:p>
            <a:pPr algn="r" rtl="1"/>
            <a:r>
              <a:rPr lang="ar-SA" sz="3600" dirty="0" smtClean="0">
                <a:solidFill>
                  <a:schemeClr val="bg1"/>
                </a:solidFill>
              </a:rPr>
              <a:t>2 </a:t>
            </a:r>
            <a:r>
              <a:rPr lang="ar-EG" sz="3600" dirty="0" smtClean="0">
                <a:solidFill>
                  <a:schemeClr val="bg1"/>
                </a:solidFill>
              </a:rPr>
              <a:t>- </a:t>
            </a:r>
            <a:r>
              <a:rPr lang="ar-SA" sz="3600" dirty="0" smtClean="0">
                <a:solidFill>
                  <a:schemeClr val="bg1"/>
                </a:solidFill>
              </a:rPr>
              <a:t>سنوات </a:t>
            </a:r>
            <a:r>
              <a:rPr lang="ar-SA" sz="3600" dirty="0">
                <a:solidFill>
                  <a:schemeClr val="bg1"/>
                </a:solidFill>
              </a:rPr>
              <a:t>الخبرة في التدريس.</a:t>
            </a:r>
            <a:endParaRPr lang="en-US" sz="3600" dirty="0">
              <a:solidFill>
                <a:schemeClr val="bg1"/>
              </a:solidFill>
            </a:endParaRPr>
          </a:p>
          <a:p>
            <a:pPr algn="r"/>
            <a:r>
              <a:rPr lang="ar-SA" sz="3600" dirty="0" smtClean="0">
                <a:solidFill>
                  <a:schemeClr val="bg1"/>
                </a:solidFill>
              </a:rPr>
              <a:t> </a:t>
            </a:r>
            <a:r>
              <a:rPr lang="ar-SA" sz="3600" dirty="0">
                <a:solidFill>
                  <a:schemeClr val="bg1"/>
                </a:solidFill>
              </a:rPr>
              <a:t>3 </a:t>
            </a:r>
            <a:r>
              <a:rPr lang="ar-EG" sz="3600" dirty="0" smtClean="0">
                <a:solidFill>
                  <a:schemeClr val="bg1"/>
                </a:solidFill>
              </a:rPr>
              <a:t>- </a:t>
            </a:r>
            <a:r>
              <a:rPr lang="ar-SA" sz="3600" dirty="0" smtClean="0">
                <a:solidFill>
                  <a:schemeClr val="bg1"/>
                </a:solidFill>
              </a:rPr>
              <a:t>اجتياز </a:t>
            </a:r>
            <a:r>
              <a:rPr lang="ar-SA" sz="3600" dirty="0">
                <a:solidFill>
                  <a:schemeClr val="bg1"/>
                </a:solidFill>
              </a:rPr>
              <a:t>الترخيص لمزاولة مهنة التدريس</a:t>
            </a:r>
            <a:r>
              <a:rPr lang="ar-SA" b="1" dirty="0" smtClean="0">
                <a:solidFill>
                  <a:schemeClr val="bg1"/>
                </a:solidFill>
              </a:rPr>
              <a:t>.</a:t>
            </a:r>
            <a:endParaRPr lang="ar-EG" b="1" dirty="0" smtClean="0">
              <a:solidFill>
                <a:schemeClr val="bg1"/>
              </a:solidFill>
            </a:endParaRPr>
          </a:p>
          <a:p>
            <a:pPr algn="ctr"/>
            <a:r>
              <a:rPr lang="ar-EG" sz="3200" dirty="0" smtClean="0">
                <a:solidFill>
                  <a:srgbClr val="FFC000"/>
                </a:solidFill>
              </a:rPr>
              <a:t>***</a:t>
            </a:r>
            <a:r>
              <a:rPr lang="ar-SA" sz="3200" dirty="0" smtClean="0">
                <a:solidFill>
                  <a:srgbClr val="FF0000"/>
                </a:solidFill>
              </a:rPr>
              <a:t>وتختلف </a:t>
            </a:r>
            <a:r>
              <a:rPr lang="ar-SA" sz="3200" dirty="0">
                <a:solidFill>
                  <a:srgbClr val="FF0000"/>
                </a:solidFill>
              </a:rPr>
              <a:t>اختبارات الترخيص من دولة إلى أخرى </a:t>
            </a:r>
            <a:r>
              <a:rPr lang="ar-SA" sz="3200" dirty="0">
                <a:solidFill>
                  <a:schemeClr val="bg1"/>
                </a:solidFill>
              </a:rPr>
              <a:t>، ولكن </a:t>
            </a:r>
            <a:r>
              <a:rPr lang="ar-SA" sz="3200" dirty="0" smtClean="0">
                <a:solidFill>
                  <a:schemeClr val="bg1"/>
                </a:solidFill>
              </a:rPr>
              <a:t>تتفق </a:t>
            </a:r>
            <a:r>
              <a:rPr lang="ar-SA" sz="3200" dirty="0">
                <a:solidFill>
                  <a:schemeClr val="bg1"/>
                </a:solidFill>
              </a:rPr>
              <a:t>في الهدف الذي تطبق من أجله وهو الحكم على جودة أداء </a:t>
            </a:r>
            <a:r>
              <a:rPr lang="ar-SA" sz="3200" dirty="0" smtClean="0">
                <a:solidFill>
                  <a:schemeClr val="bg1"/>
                </a:solidFill>
              </a:rPr>
              <a:t>المعلم</a:t>
            </a:r>
            <a:r>
              <a:rPr lang="ar-EG" sz="3200" dirty="0" smtClean="0">
                <a:solidFill>
                  <a:srgbClr val="FFC000"/>
                </a:solidFill>
              </a:rPr>
              <a:t>.</a:t>
            </a:r>
            <a:r>
              <a:rPr lang="ar-SA" sz="3200" dirty="0" smtClean="0">
                <a:solidFill>
                  <a:srgbClr val="FFC000"/>
                </a:solidFill>
              </a:rPr>
              <a:t> </a:t>
            </a:r>
            <a:endParaRPr lang="ar-EG" sz="32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18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90558"/>
            <a:ext cx="8742297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buFont typeface="Wingdings" pitchFamily="2" charset="2"/>
              <a:buChar char="v"/>
            </a:pPr>
            <a:r>
              <a:rPr lang="ar-SA" sz="3200" dirty="0">
                <a:solidFill>
                  <a:srgbClr val="FF0000"/>
                </a:solidFill>
              </a:rPr>
              <a:t>ومعاييرالاعتماد المهنى للمعلم </a:t>
            </a:r>
            <a:r>
              <a:rPr lang="ar-SA" sz="3200" b="1" dirty="0">
                <a:solidFill>
                  <a:srgbClr val="FF0000"/>
                </a:solidFill>
              </a:rPr>
              <a:t>ترتبط بالمجتمع</a:t>
            </a:r>
            <a:r>
              <a:rPr lang="ar-SA" sz="3200" dirty="0">
                <a:solidFill>
                  <a:srgbClr val="FF0000"/>
                </a:solidFill>
              </a:rPr>
              <a:t> الذي يعمل فيه المعلم : </a:t>
            </a:r>
            <a:endParaRPr lang="ar-EG" sz="3200" dirty="0" smtClean="0">
              <a:solidFill>
                <a:srgbClr val="FF0000"/>
              </a:solidFill>
            </a:endParaRPr>
          </a:p>
          <a:p>
            <a:pPr marL="457200" indent="-4572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chemeClr val="bg1"/>
                </a:solidFill>
              </a:rPr>
              <a:t>فمعايير </a:t>
            </a:r>
            <a:r>
              <a:rPr lang="ar-SA" sz="3200" dirty="0">
                <a:solidFill>
                  <a:schemeClr val="bg1"/>
                </a:solidFill>
              </a:rPr>
              <a:t>معلم يعمل في السودان تختلف عن المعايير معلم آخر يعمل في الصين أو في الدول الأوربية وبالرغم من الاختلافات الواسعة في وضع معايير المعلم الجيد من مجتمع </a:t>
            </a:r>
            <a:r>
              <a:rPr lang="ar-SA" sz="3200" dirty="0" smtClean="0">
                <a:solidFill>
                  <a:schemeClr val="bg1"/>
                </a:solidFill>
              </a:rPr>
              <a:t>لآخر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</a:p>
          <a:p>
            <a:pPr marL="457200" indent="-457200" algn="r" rtl="1">
              <a:buFont typeface="Wingdings" pitchFamily="2" charset="2"/>
              <a:buChar char="v"/>
            </a:pPr>
            <a:r>
              <a:rPr lang="ar-SA" sz="3200" dirty="0" smtClean="0"/>
              <a:t> </a:t>
            </a:r>
            <a:r>
              <a:rPr lang="ar-SA" sz="3200" dirty="0">
                <a:solidFill>
                  <a:srgbClr val="FF0000"/>
                </a:solidFill>
              </a:rPr>
              <a:t>هنالك إتفاق بين معظم الدول والمجتمعات أن المعايير الآتية تمثل الحد الأدنى المطلوب في أداء المعلم الجيد:</a:t>
            </a:r>
            <a:endParaRPr lang="en-US" sz="3200" dirty="0">
              <a:solidFill>
                <a:srgbClr val="FF0000"/>
              </a:solidFill>
            </a:endParaRPr>
          </a:p>
          <a:p>
            <a:pPr algn="r" rtl="1"/>
            <a:r>
              <a:rPr lang="ar-SA" sz="3200" dirty="0">
                <a:solidFill>
                  <a:schemeClr val="bg1"/>
                </a:solidFill>
              </a:rPr>
              <a:t>-</a:t>
            </a:r>
            <a:r>
              <a:rPr lang="ar-SA" sz="3200" dirty="0">
                <a:solidFill>
                  <a:srgbClr val="FFC000"/>
                </a:solidFill>
              </a:rPr>
              <a:t> </a:t>
            </a:r>
            <a:r>
              <a:rPr lang="ar-SA" sz="3200" b="1" dirty="0">
                <a:solidFill>
                  <a:schemeClr val="bg1"/>
                </a:solidFill>
              </a:rPr>
              <a:t>أن يكون المعلم متقنا للبنية المعرفية لمادة تخصصه ويفهم طبيعتها . </a:t>
            </a:r>
            <a:endParaRPr lang="en-US" sz="3200" b="1" dirty="0">
              <a:solidFill>
                <a:schemeClr val="bg1"/>
              </a:solidFill>
            </a:endParaRPr>
          </a:p>
          <a:p>
            <a:pPr algn="r" rtl="1"/>
            <a:r>
              <a:rPr lang="ar-SA" sz="3200" b="1" dirty="0">
                <a:solidFill>
                  <a:schemeClr val="bg1"/>
                </a:solidFill>
              </a:rPr>
              <a:t>- أن يخطط المعلم في عملية التدريس على سياسة التعليم والأهداف بعيدة المدى المجتمع .</a:t>
            </a:r>
            <a:endParaRPr lang="en-US" sz="3200" b="1" dirty="0">
              <a:solidFill>
                <a:schemeClr val="bg1"/>
              </a:solidFill>
            </a:endParaRPr>
          </a:p>
          <a:p>
            <a:pPr algn="r" rtl="1"/>
            <a:r>
              <a:rPr lang="ar-SA" sz="3200" b="1" dirty="0">
                <a:solidFill>
                  <a:schemeClr val="bg1"/>
                </a:solidFill>
              </a:rPr>
              <a:t>- أن يطبق المعلم استراتيجيات وطرائق وأساليب التدريس بكفاءة </a:t>
            </a:r>
            <a:endParaRPr lang="en-US" sz="3200" b="1" dirty="0">
              <a:solidFill>
                <a:schemeClr val="bg1"/>
              </a:solidFill>
            </a:endParaRPr>
          </a:p>
          <a:p>
            <a:pPr algn="r" rtl="1"/>
            <a:r>
              <a:rPr lang="ar-SA" sz="3200" b="1" dirty="0">
                <a:solidFill>
                  <a:schemeClr val="bg1"/>
                </a:solidFill>
              </a:rPr>
              <a:t>- أن يوفر المعلم بيئة تعليمية إيجابية .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15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476672"/>
            <a:ext cx="8136904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3200" b="1" dirty="0">
                <a:solidFill>
                  <a:schemeClr val="bg1"/>
                </a:solidFill>
              </a:rPr>
              <a:t>وتتفق الأبعاد العالمية لمزاولة مهنة التدريس في الأبعاد الآتية:</a:t>
            </a:r>
            <a:endParaRPr lang="en-US" sz="3200" b="1" dirty="0">
              <a:solidFill>
                <a:schemeClr val="bg1"/>
              </a:solidFill>
            </a:endParaRPr>
          </a:p>
          <a:p>
            <a:pPr marL="571500" lvl="0" indent="-5715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rgbClr val="FF0000"/>
                </a:solidFill>
              </a:rPr>
              <a:t>ضرورة </a:t>
            </a:r>
            <a:r>
              <a:rPr lang="ar-SA" sz="3200" dirty="0">
                <a:solidFill>
                  <a:srgbClr val="FF0000"/>
                </a:solidFill>
              </a:rPr>
              <a:t>معرفة المعلم واستيعابه للبنية المعرفية </a:t>
            </a:r>
            <a:r>
              <a:rPr lang="ar-SA" sz="3200" dirty="0">
                <a:solidFill>
                  <a:schemeClr val="bg1"/>
                </a:solidFill>
              </a:rPr>
              <a:t>لمحتوى المنهج القائم على تدريسه، وضرورة تطوير معارفه وتحديثها حتى يكسب ثقة طلابه </a:t>
            </a:r>
            <a:r>
              <a:rPr lang="ar-SA" sz="3200" dirty="0" smtClean="0">
                <a:solidFill>
                  <a:schemeClr val="bg1"/>
                </a:solidFill>
              </a:rPr>
              <a:t>واحترامهم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r>
              <a:rPr lang="ar-SA" sz="3200" dirty="0" smtClean="0">
                <a:solidFill>
                  <a:schemeClr val="bg1"/>
                </a:solidFill>
              </a:rPr>
              <a:t> </a:t>
            </a:r>
            <a:r>
              <a:rPr lang="ar-SA" sz="3200" dirty="0"/>
              <a:t>.</a:t>
            </a:r>
            <a:endParaRPr lang="en-US" sz="3200" dirty="0"/>
          </a:p>
          <a:p>
            <a:pPr marL="571500" lvl="0" indent="-5715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rgbClr val="FF0000"/>
                </a:solidFill>
              </a:rPr>
              <a:t>الكفاءة </a:t>
            </a:r>
            <a:r>
              <a:rPr lang="ar-SA" sz="3200" dirty="0">
                <a:solidFill>
                  <a:srgbClr val="FF0000"/>
                </a:solidFill>
              </a:rPr>
              <a:t>التربوية </a:t>
            </a:r>
            <a:r>
              <a:rPr lang="ar-EG" sz="3200" dirty="0">
                <a:solidFill>
                  <a:srgbClr val="FF0000"/>
                </a:solidFill>
              </a:rPr>
              <a:t>: </a:t>
            </a:r>
            <a:r>
              <a:rPr lang="ar-SA" sz="3200" dirty="0">
                <a:solidFill>
                  <a:schemeClr val="bg1"/>
                </a:solidFill>
              </a:rPr>
              <a:t>معرفة المعلم لمبادئ ونظريات التعلم والتعليم وأن يكون عالما بالاتجاهات التربوية الحديثة ومعرفته لخصائص طلابه ودوافعهم وأنماطهم السلوكية.</a:t>
            </a:r>
            <a:endParaRPr lang="en-US" sz="3200" dirty="0">
              <a:solidFill>
                <a:schemeClr val="bg1"/>
              </a:solidFill>
            </a:endParaRPr>
          </a:p>
          <a:p>
            <a:pPr marL="571500" lvl="0" indent="-571500" algn="r" rtl="1">
              <a:buFont typeface="Wingdings" pitchFamily="2" charset="2"/>
              <a:buChar char="v"/>
            </a:pPr>
            <a:r>
              <a:rPr lang="ar-SA" sz="3200" dirty="0" smtClean="0">
                <a:solidFill>
                  <a:srgbClr val="FF0000"/>
                </a:solidFill>
              </a:rPr>
              <a:t>مهارات </a:t>
            </a:r>
            <a:r>
              <a:rPr lang="ar-SA" sz="3200" dirty="0">
                <a:solidFill>
                  <a:srgbClr val="FF0000"/>
                </a:solidFill>
              </a:rPr>
              <a:t>التنور المعلوماتي : ويستهدف هذا البعد قياس المهارات الأساسية لدى المعلم </a:t>
            </a:r>
            <a:r>
              <a:rPr lang="ar-SA" sz="3200" dirty="0">
                <a:solidFill>
                  <a:schemeClr val="bg1"/>
                </a:solidFill>
              </a:rPr>
              <a:t>، والتي من بينها مهارات التفكير الاستدلالي والتفكير الناقد والتفكير الابتكاري ومهارات الاتصال والفهم القرائي. </a:t>
            </a:r>
            <a:endParaRPr lang="en-US" sz="3200" dirty="0">
              <a:solidFill>
                <a:schemeClr val="bg1"/>
              </a:solidFill>
            </a:endParaRPr>
          </a:p>
          <a:p>
            <a:pPr rtl="1"/>
            <a:r>
              <a:rPr lang="ar-SA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00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404665"/>
            <a:ext cx="820891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ar-SA" sz="2800" b="1" dirty="0">
                <a:solidFill>
                  <a:schemeClr val="bg1"/>
                </a:solidFill>
              </a:rPr>
              <a:t>معوقات </a:t>
            </a:r>
            <a:r>
              <a:rPr lang="ar-SA" sz="2800" b="1" dirty="0" smtClean="0">
                <a:solidFill>
                  <a:schemeClr val="bg1"/>
                </a:solidFill>
              </a:rPr>
              <a:t>تطبيق </a:t>
            </a:r>
            <a:r>
              <a:rPr lang="ar-SA" sz="2800" b="1" dirty="0">
                <a:solidFill>
                  <a:schemeClr val="bg1"/>
                </a:solidFill>
              </a:rPr>
              <a:t>الترخيص المهني لمزاولة مهنة التعليم بالتعليم الثانوي العام في مصر :</a:t>
            </a:r>
            <a:r>
              <a:rPr lang="ar-SA" b="1" dirty="0">
                <a:solidFill>
                  <a:srgbClr val="FFC000"/>
                </a:solidFill>
              </a:rPr>
              <a:t> </a:t>
            </a:r>
            <a:endParaRPr lang="ar-EG" b="1" dirty="0" smtClean="0">
              <a:solidFill>
                <a:srgbClr val="FFC000"/>
              </a:solidFill>
            </a:endParaRPr>
          </a:p>
          <a:p>
            <a:pPr algn="r"/>
            <a:endParaRPr lang="ar-EG" dirty="0">
              <a:solidFill>
                <a:srgbClr val="FFC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7504" y="1196752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buFont typeface="Wingdings" pitchFamily="2" charset="2"/>
              <a:buChar char="v"/>
            </a:pPr>
            <a:r>
              <a:rPr lang="ar-EG" sz="2800" b="1" dirty="0" smtClean="0">
                <a:solidFill>
                  <a:schemeClr val="bg1"/>
                </a:solidFill>
              </a:rPr>
              <a:t>أولا: </a:t>
            </a:r>
            <a:r>
              <a:rPr lang="ar-SA" sz="2800" b="1" dirty="0" smtClean="0">
                <a:solidFill>
                  <a:schemeClr val="bg1"/>
                </a:solidFill>
              </a:rPr>
              <a:t>المعوقات </a:t>
            </a:r>
            <a:r>
              <a:rPr lang="ar-SA" sz="2800" b="1" dirty="0">
                <a:solidFill>
                  <a:schemeClr val="bg1"/>
                </a:solidFill>
              </a:rPr>
              <a:t>المتعلقة بالمعلمين أنفسهم :</a:t>
            </a:r>
            <a:endParaRPr lang="en-US" sz="2800" dirty="0">
              <a:solidFill>
                <a:schemeClr val="bg1"/>
              </a:solidFill>
            </a:endParaRPr>
          </a:p>
          <a:p>
            <a:pPr algn="r" rtl="1"/>
            <a:r>
              <a:rPr lang="ar-SA" sz="2800" b="1" dirty="0">
                <a:solidFill>
                  <a:srgbClr val="FF0000"/>
                </a:solidFill>
              </a:rPr>
              <a:t>هناك بعض الاشكاليات التى تواجه تطبيق الترخيص والتي تتعلق بالمعلمين أنفسم وتلك الاشكاليات تتمثل في الآتي</a:t>
            </a:r>
            <a:r>
              <a:rPr lang="ar-SA" sz="2800" b="1" dirty="0" smtClean="0">
                <a:solidFill>
                  <a:srgbClr val="FF0000"/>
                </a:solidFill>
              </a:rPr>
              <a:t>:</a:t>
            </a:r>
            <a:endParaRPr lang="en-US" sz="2800" dirty="0">
              <a:solidFill>
                <a:srgbClr val="FF0000"/>
              </a:solidFill>
            </a:endParaRPr>
          </a:p>
          <a:p>
            <a:pPr algn="r" rtl="1"/>
            <a:r>
              <a:rPr lang="ar-SA" sz="3200" b="1" dirty="0">
                <a:solidFill>
                  <a:schemeClr val="bg1"/>
                </a:solidFill>
              </a:rPr>
              <a:t>1- </a:t>
            </a:r>
            <a:r>
              <a:rPr lang="ar-SA" sz="3200" dirty="0">
                <a:solidFill>
                  <a:schemeClr val="bg1"/>
                </a:solidFill>
              </a:rPr>
              <a:t>عدم ارتياح بعض المعلمين والقيادات التعليمية </a:t>
            </a:r>
            <a:r>
              <a:rPr lang="ar-SA" sz="3200" dirty="0">
                <a:solidFill>
                  <a:srgbClr val="FF0000"/>
                </a:solidFill>
              </a:rPr>
              <a:t>لنظام الترخيص المؤقت</a:t>
            </a:r>
            <a:r>
              <a:rPr lang="ar-SA" sz="3200" dirty="0">
                <a:solidFill>
                  <a:schemeClr val="bg1"/>
                </a:solidFill>
              </a:rPr>
              <a:t> لأنه سوف يجبرهم على بذل المزيد من الجهد فى السعى لتطوير مهاراتهم وأدائهم. بالإضافة إلى خوفهم على استقرارهم الوظيفي 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endParaRPr lang="en-US" sz="3200" dirty="0">
              <a:solidFill>
                <a:schemeClr val="bg1"/>
              </a:solidFill>
            </a:endParaRPr>
          </a:p>
          <a:p>
            <a:pPr algn="r" rtl="1"/>
            <a:r>
              <a:rPr lang="ar-SA" sz="3200" dirty="0">
                <a:solidFill>
                  <a:srgbClr val="FF0000"/>
                </a:solidFill>
              </a:rPr>
              <a:t>2- افتقار المعلمين لثقافة الجودة أو ثقافة الاعتماد</a:t>
            </a:r>
            <a:r>
              <a:rPr lang="ar-SA" sz="3200" dirty="0">
                <a:solidFill>
                  <a:schemeClr val="bg1"/>
                </a:solidFill>
              </a:rPr>
              <a:t>، فغالبية أفراد المجتمع يفضلون العمل المريح وتميل إلى الكسب السريع بأقل </a:t>
            </a:r>
            <a:r>
              <a:rPr lang="ar-SA" sz="3200" dirty="0" smtClean="0">
                <a:solidFill>
                  <a:schemeClr val="bg1"/>
                </a:solidFill>
              </a:rPr>
              <a:t>مجهود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r>
              <a:rPr lang="ar-SA" sz="3200" dirty="0" smtClean="0">
                <a:solidFill>
                  <a:schemeClr val="bg1"/>
                </a:solidFill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820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124744"/>
            <a:ext cx="849694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sz="3200" dirty="0" smtClean="0">
                <a:solidFill>
                  <a:srgbClr val="FF0000"/>
                </a:solidFill>
              </a:rPr>
              <a:t>3-</a:t>
            </a:r>
            <a:r>
              <a:rPr lang="ar-EG" sz="3200" dirty="0" smtClean="0">
                <a:solidFill>
                  <a:schemeClr val="bg1"/>
                </a:solidFill>
              </a:rPr>
              <a:t> </a:t>
            </a:r>
            <a:r>
              <a:rPr lang="ar-SA" sz="3200" dirty="0" smtClean="0">
                <a:solidFill>
                  <a:srgbClr val="FF0000"/>
                </a:solidFill>
              </a:rPr>
              <a:t>رفض </a:t>
            </a:r>
            <a:r>
              <a:rPr lang="ar-SA" sz="3200" dirty="0">
                <a:solidFill>
                  <a:srgbClr val="FF0000"/>
                </a:solidFill>
              </a:rPr>
              <a:t>بعض المعلمين لهذا النظام لتشككهم </a:t>
            </a:r>
            <a:r>
              <a:rPr lang="ar-SA" sz="3200" dirty="0">
                <a:solidFill>
                  <a:schemeClr val="bg1"/>
                </a:solidFill>
              </a:rPr>
              <a:t>بأن الهدف منه التخلص من عدد من المعلمين وإحلالهم بمعلمين صغار </a:t>
            </a:r>
            <a:r>
              <a:rPr lang="ar-SA" sz="3200" dirty="0" smtClean="0">
                <a:solidFill>
                  <a:schemeClr val="bg1"/>
                </a:solidFill>
              </a:rPr>
              <a:t>السن</a:t>
            </a:r>
            <a:r>
              <a:rPr lang="ar-EG" sz="3200" dirty="0" smtClean="0">
                <a:solidFill>
                  <a:schemeClr val="bg1"/>
                </a:solidFill>
              </a:rPr>
              <a:t>،</a:t>
            </a:r>
            <a:r>
              <a:rPr lang="ar-SA" sz="3200" dirty="0" smtClean="0">
                <a:solidFill>
                  <a:schemeClr val="bg1"/>
                </a:solidFill>
              </a:rPr>
              <a:t> نظرا </a:t>
            </a:r>
            <a:r>
              <a:rPr lang="ar-SA" sz="3200" dirty="0">
                <a:solidFill>
                  <a:schemeClr val="bg1"/>
                </a:solidFill>
              </a:rPr>
              <a:t>لانخفاض مرتباتهم كأحد الوسائل المتبعة في تخفيض نفقات التعليم على صالح </a:t>
            </a:r>
            <a:r>
              <a:rPr lang="ar-SA" sz="3200" dirty="0">
                <a:solidFill>
                  <a:srgbClr val="FF0000"/>
                </a:solidFill>
              </a:rPr>
              <a:t>وجود أنواع متعددة بين المعلمين :</a:t>
            </a:r>
            <a:endParaRPr lang="en-US" sz="3200" dirty="0">
              <a:solidFill>
                <a:srgbClr val="FF0000"/>
              </a:solidFill>
            </a:endParaRPr>
          </a:p>
          <a:p>
            <a:pPr algn="r" rtl="1"/>
            <a:r>
              <a:rPr lang="ar-SA" sz="3200" dirty="0">
                <a:solidFill>
                  <a:schemeClr val="bg1"/>
                </a:solidFill>
              </a:rPr>
              <a:t>1- عام و </a:t>
            </a:r>
            <a:r>
              <a:rPr lang="ar-SA" sz="3200" dirty="0" smtClean="0">
                <a:solidFill>
                  <a:schemeClr val="bg1"/>
                </a:solidFill>
              </a:rPr>
              <a:t>فنى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endParaRPr lang="en-US" sz="3200" dirty="0">
              <a:solidFill>
                <a:schemeClr val="bg1"/>
              </a:solidFill>
            </a:endParaRPr>
          </a:p>
          <a:p>
            <a:pPr algn="r" rtl="1"/>
            <a:r>
              <a:rPr lang="ar-SA" sz="3200" dirty="0">
                <a:solidFill>
                  <a:schemeClr val="bg1"/>
                </a:solidFill>
              </a:rPr>
              <a:t>2- علمی و </a:t>
            </a:r>
            <a:r>
              <a:rPr lang="ar-SA" sz="3200" dirty="0" smtClean="0">
                <a:solidFill>
                  <a:schemeClr val="bg1"/>
                </a:solidFill>
              </a:rPr>
              <a:t>نظری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endParaRPr lang="en-US" sz="3200" dirty="0">
              <a:solidFill>
                <a:schemeClr val="bg1"/>
              </a:solidFill>
            </a:endParaRPr>
          </a:p>
          <a:p>
            <a:pPr algn="r" rtl="1"/>
            <a:r>
              <a:rPr lang="ar-SA" sz="3200" dirty="0">
                <a:solidFill>
                  <a:schemeClr val="bg1"/>
                </a:solidFill>
              </a:rPr>
              <a:t>3-خاص </a:t>
            </a:r>
            <a:r>
              <a:rPr lang="ar-SA" sz="3200" dirty="0" smtClean="0">
                <a:solidFill>
                  <a:schemeClr val="bg1"/>
                </a:solidFill>
              </a:rPr>
              <a:t>وحكومي</a:t>
            </a:r>
            <a:r>
              <a:rPr lang="ar-EG" sz="3200" dirty="0" smtClean="0">
                <a:solidFill>
                  <a:schemeClr val="bg1"/>
                </a:solidFill>
              </a:rPr>
              <a:t>.</a:t>
            </a:r>
            <a:endParaRPr lang="en-US" sz="3200" dirty="0">
              <a:solidFill>
                <a:schemeClr val="bg1"/>
              </a:solidFill>
            </a:endParaRPr>
          </a:p>
          <a:p>
            <a:pPr lvl="0" algn="r" rtl="1"/>
            <a:r>
              <a:rPr lang="ar-EG" sz="3200" dirty="0" smtClean="0">
                <a:solidFill>
                  <a:schemeClr val="bg1"/>
                </a:solidFill>
              </a:rPr>
              <a:t>4- </a:t>
            </a:r>
            <a:r>
              <a:rPr lang="ar-SA" sz="3200" dirty="0" smtClean="0">
                <a:solidFill>
                  <a:schemeClr val="bg1"/>
                </a:solidFill>
              </a:rPr>
              <a:t>مؤهلين </a:t>
            </a:r>
            <a:r>
              <a:rPr lang="ar-SA" sz="3200" dirty="0">
                <a:solidFill>
                  <a:schemeClr val="bg1"/>
                </a:solidFill>
              </a:rPr>
              <a:t>تربويا وغير مؤهلين تربويا.</a:t>
            </a:r>
            <a:endParaRPr lang="en-US" sz="3200" dirty="0">
              <a:solidFill>
                <a:schemeClr val="bg1"/>
              </a:solidFill>
            </a:endParaRPr>
          </a:p>
          <a:p>
            <a:pPr lvl="0" algn="r" rtl="1"/>
            <a:r>
              <a:rPr lang="ar-EG" sz="3200" dirty="0" smtClean="0">
                <a:solidFill>
                  <a:schemeClr val="bg1"/>
                </a:solidFill>
              </a:rPr>
              <a:t>5- </a:t>
            </a:r>
            <a:r>
              <a:rPr lang="ar-SA" sz="3200" dirty="0" smtClean="0">
                <a:solidFill>
                  <a:schemeClr val="bg1"/>
                </a:solidFill>
              </a:rPr>
              <a:t>الاعتماد </a:t>
            </a:r>
            <a:r>
              <a:rPr lang="ar-SA" sz="3200" dirty="0">
                <a:solidFill>
                  <a:schemeClr val="bg1"/>
                </a:solidFill>
              </a:rPr>
              <a:t>على الأقدمية والخبرة الطويلة. </a:t>
            </a:r>
            <a:endParaRPr lang="en-US" sz="3200" dirty="0">
              <a:solidFill>
                <a:schemeClr val="bg1"/>
              </a:solidFill>
            </a:endParaRPr>
          </a:p>
          <a:p>
            <a:pPr lvl="0" algn="r" rtl="1"/>
            <a:r>
              <a:rPr lang="ar-EG" sz="3200" dirty="0" smtClean="0">
                <a:solidFill>
                  <a:schemeClr val="bg1"/>
                </a:solidFill>
              </a:rPr>
              <a:t>6- </a:t>
            </a:r>
            <a:r>
              <a:rPr lang="ar-SA" sz="3200" dirty="0" smtClean="0">
                <a:solidFill>
                  <a:schemeClr val="bg1"/>
                </a:solidFill>
              </a:rPr>
              <a:t>ضعف </a:t>
            </a:r>
            <a:r>
              <a:rPr lang="ar-SA" sz="3200" dirty="0">
                <a:solidFill>
                  <a:schemeClr val="bg1"/>
                </a:solidFill>
              </a:rPr>
              <a:t>قدرات المعلمين البحثية والنقدية في تقديم التقارير وإجراء البحوث.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33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260648"/>
            <a:ext cx="828092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EG" sz="3600" b="1" dirty="0" smtClean="0">
                <a:solidFill>
                  <a:schemeClr val="bg1"/>
                </a:solidFill>
              </a:rPr>
              <a:t>ثانيا:</a:t>
            </a:r>
            <a:r>
              <a:rPr lang="ar-SA" sz="3600" b="1" dirty="0" smtClean="0">
                <a:solidFill>
                  <a:schemeClr val="bg1"/>
                </a:solidFill>
              </a:rPr>
              <a:t>والمعوقات </a:t>
            </a:r>
            <a:r>
              <a:rPr lang="ar-SA" sz="3600" b="1" dirty="0">
                <a:solidFill>
                  <a:schemeClr val="bg1"/>
                </a:solidFill>
              </a:rPr>
              <a:t>المتعلقة بنظام التطبيق :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 algn="r" rtl="1">
              <a:buFont typeface="Wingdings" pitchFamily="2" charset="2"/>
              <a:buChar char="Ø"/>
            </a:pPr>
            <a:r>
              <a:rPr lang="ar-SA" sz="3200" b="1" dirty="0">
                <a:solidFill>
                  <a:srgbClr val="FF0000"/>
                </a:solidFill>
              </a:rPr>
              <a:t>يواجه تطبيق نظام الترخيص لممارسة مهنة التعليم اشكاليات تتعلق بنظام التطبيق </a:t>
            </a:r>
            <a:r>
              <a:rPr lang="ar-SA" sz="3200" b="1" dirty="0">
                <a:solidFill>
                  <a:schemeClr val="bg1"/>
                </a:solidFill>
              </a:rPr>
              <a:t>ذاته وقد ترجع تلك الاشكاليات لحداثة هذا النظام في مصر ويمكن إيضاح تلك الاشكاليات فيما يلى : </a:t>
            </a:r>
            <a:endParaRPr lang="en-US" sz="3200" dirty="0">
              <a:solidFill>
                <a:schemeClr val="bg1"/>
              </a:solidFill>
            </a:endParaRPr>
          </a:p>
          <a:p>
            <a:pPr lvl="0" algn="r" rtl="1"/>
            <a:r>
              <a:rPr lang="ar-EG" sz="3600" dirty="0" smtClean="0">
                <a:solidFill>
                  <a:srgbClr val="FF0000"/>
                </a:solidFill>
              </a:rPr>
              <a:t>-1- </a:t>
            </a:r>
            <a:r>
              <a:rPr lang="ar-SA" sz="3600" dirty="0" smtClean="0">
                <a:solidFill>
                  <a:srgbClr val="FF0000"/>
                </a:solidFill>
              </a:rPr>
              <a:t>ندرة </a:t>
            </a:r>
            <a:r>
              <a:rPr lang="ar-SA" sz="3600" dirty="0">
                <a:solidFill>
                  <a:srgbClr val="FF0000"/>
                </a:solidFill>
              </a:rPr>
              <a:t>الخبرة العملية بنظام الترخيص وتعدد الجهات المتوقع اشتراكها في عملية التنفيذ </a:t>
            </a:r>
            <a:r>
              <a:rPr lang="ar-SA" sz="3600" dirty="0">
                <a:solidFill>
                  <a:schemeClr val="bg1"/>
                </a:solidFill>
              </a:rPr>
              <a:t>. وما قد يحدث بينها من تضارب واختلاف في وجهات النظر.</a:t>
            </a:r>
            <a:endParaRPr lang="en-US" sz="3600" dirty="0">
              <a:solidFill>
                <a:schemeClr val="bg1"/>
              </a:solidFill>
            </a:endParaRPr>
          </a:p>
          <a:p>
            <a:pPr lvl="0" algn="r" rtl="1"/>
            <a:r>
              <a:rPr lang="ar-SA" sz="3600" dirty="0">
                <a:solidFill>
                  <a:schemeClr val="bg1"/>
                </a:solidFill>
              </a:rPr>
              <a:t>  </a:t>
            </a:r>
            <a:r>
              <a:rPr lang="ar-EG" sz="3600" dirty="0">
                <a:solidFill>
                  <a:srgbClr val="FF0000"/>
                </a:solidFill>
              </a:rPr>
              <a:t>-</a:t>
            </a:r>
            <a:r>
              <a:rPr lang="ar-EG" sz="3600" dirty="0" smtClean="0">
                <a:solidFill>
                  <a:srgbClr val="FF0000"/>
                </a:solidFill>
              </a:rPr>
              <a:t>2-  </a:t>
            </a:r>
            <a:r>
              <a:rPr lang="ar-SA" sz="3600" dirty="0" smtClean="0">
                <a:solidFill>
                  <a:srgbClr val="FF0000"/>
                </a:solidFill>
              </a:rPr>
              <a:t>صعوبة </a:t>
            </a:r>
            <a:r>
              <a:rPr lang="ar-SA" sz="3600" dirty="0">
                <a:solidFill>
                  <a:srgbClr val="FF0000"/>
                </a:solidFill>
              </a:rPr>
              <a:t>تحديد وتوصيف منظومة الترخيص للمعلم </a:t>
            </a:r>
            <a:r>
              <a:rPr lang="ar-SA" sz="3600" dirty="0">
                <a:solidFill>
                  <a:schemeClr val="bg1"/>
                </a:solidFill>
              </a:rPr>
              <a:t>بما في ذلك صعوبة التحديد الدقيق لنوعية وطبيعة المستويات المعرفية </a:t>
            </a:r>
            <a:r>
              <a:rPr lang="ar-SA" sz="3600" dirty="0" smtClean="0">
                <a:solidFill>
                  <a:schemeClr val="bg1"/>
                </a:solidFill>
              </a:rPr>
              <a:t>والمهارية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167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836712"/>
            <a:ext cx="8496944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EG" sz="3600" dirty="0" smtClean="0">
                <a:solidFill>
                  <a:srgbClr val="FF0000"/>
                </a:solidFill>
              </a:rPr>
              <a:t>3- </a:t>
            </a:r>
            <a:r>
              <a:rPr lang="ar-SA" sz="3600" dirty="0" smtClean="0">
                <a:solidFill>
                  <a:srgbClr val="FF0000"/>
                </a:solidFill>
              </a:rPr>
              <a:t>تعدد </a:t>
            </a:r>
            <a:r>
              <a:rPr lang="ar-SA" sz="3600" dirty="0">
                <a:solidFill>
                  <a:srgbClr val="FF0000"/>
                </a:solidFill>
              </a:rPr>
              <a:t>وتشابك المتغيرات ذات الصلة بهذا الموضوع . فهناك المعلمون القدامى والمعلمون حديثي التخرج</a:t>
            </a:r>
            <a:r>
              <a:rPr lang="ar-SA" sz="3600" dirty="0">
                <a:solidFill>
                  <a:schemeClr val="bg1"/>
                </a:solidFill>
              </a:rPr>
              <a:t>، </a:t>
            </a:r>
            <a:r>
              <a:rPr lang="ar-SA" sz="3200" dirty="0">
                <a:solidFill>
                  <a:schemeClr val="bg1"/>
                </a:solidFill>
              </a:rPr>
              <a:t>وهناك المؤهلون تربويا وغير المؤهلين. وهناك أصحاب المؤهلات العليا وأصحاب المؤهلات المتوسطة، وهناك من يمارسون المهنة بشكل غير رسمى من خلال الدروس الخصوصية.</a:t>
            </a:r>
            <a:endParaRPr lang="en-US" sz="3200" dirty="0">
              <a:solidFill>
                <a:schemeClr val="bg1"/>
              </a:solidFill>
            </a:endParaRPr>
          </a:p>
          <a:p>
            <a:pPr lvl="0" algn="r" rtl="1"/>
            <a:r>
              <a:rPr lang="ar-EG" sz="3600" dirty="0" smtClean="0">
                <a:solidFill>
                  <a:srgbClr val="FF0000"/>
                </a:solidFill>
              </a:rPr>
              <a:t>4- </a:t>
            </a:r>
            <a:r>
              <a:rPr lang="ar-SA" sz="3600" dirty="0" smtClean="0">
                <a:solidFill>
                  <a:srgbClr val="FF0000"/>
                </a:solidFill>
              </a:rPr>
              <a:t>غياب </a:t>
            </a:r>
            <a:r>
              <a:rPr lang="ar-SA" sz="3600" dirty="0">
                <a:solidFill>
                  <a:srgbClr val="FF0000"/>
                </a:solidFill>
              </a:rPr>
              <a:t>الهياكل الوظيفية والتنظيمية </a:t>
            </a:r>
            <a:r>
              <a:rPr lang="ar-SA" sz="3600" dirty="0">
                <a:solidFill>
                  <a:schemeClr val="bg1"/>
                </a:solidFill>
              </a:rPr>
              <a:t>التي يتعين عليها فهم واستيعاب هذه الأفكار الجديدة والمشاركة في تطبيقها على مستوى المدارس والإدارات والمحافظات  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184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692697"/>
            <a:ext cx="864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ar-EG" sz="3200" dirty="0" smtClean="0">
                <a:solidFill>
                  <a:srgbClr val="FF0000"/>
                </a:solidFill>
              </a:rPr>
              <a:t>5</a:t>
            </a:r>
            <a:r>
              <a:rPr lang="ar-EG" sz="3600" dirty="0" smtClean="0">
                <a:solidFill>
                  <a:srgbClr val="FF0000"/>
                </a:solidFill>
              </a:rPr>
              <a:t>- </a:t>
            </a:r>
            <a:r>
              <a:rPr lang="ar-SA" sz="3600" dirty="0" smtClean="0">
                <a:solidFill>
                  <a:srgbClr val="FF0000"/>
                </a:solidFill>
              </a:rPr>
              <a:t>تطبيق </a:t>
            </a:r>
            <a:r>
              <a:rPr lang="ar-SA" sz="3600" dirty="0">
                <a:solidFill>
                  <a:srgbClr val="FF0000"/>
                </a:solidFill>
              </a:rPr>
              <a:t>هذا النظام قد يقلل من فرص الحصول على معلمين في بعض التخصصات </a:t>
            </a:r>
            <a:r>
              <a:rPr lang="ar-SA" sz="3600" dirty="0">
                <a:solidFill>
                  <a:schemeClr val="bg1"/>
                </a:solidFill>
              </a:rPr>
              <a:t>التي تحتاجها المدارس الفنية والصناعية القادمين من قطاع الأعمال والصناعة, ويعملون بدوام جزئى لبعض الوقت للاستفادة من خبرتهم فى هذا المجال.</a:t>
            </a:r>
            <a:endParaRPr lang="en-US" sz="3600" dirty="0">
              <a:solidFill>
                <a:schemeClr val="bg1"/>
              </a:solidFill>
            </a:endParaRPr>
          </a:p>
          <a:p>
            <a:pPr lvl="0" algn="r" rtl="1"/>
            <a:r>
              <a:rPr lang="ar-EG" sz="3600" dirty="0" smtClean="0">
                <a:solidFill>
                  <a:srgbClr val="FF0000"/>
                </a:solidFill>
              </a:rPr>
              <a:t>6- </a:t>
            </a:r>
            <a:r>
              <a:rPr lang="ar-SA" sz="3600" dirty="0" smtClean="0">
                <a:solidFill>
                  <a:srgbClr val="FF0000"/>
                </a:solidFill>
              </a:rPr>
              <a:t>يرى </a:t>
            </a:r>
            <a:r>
              <a:rPr lang="ar-SA" sz="3600" dirty="0">
                <a:solidFill>
                  <a:srgbClr val="FF0000"/>
                </a:solidFill>
              </a:rPr>
              <a:t>البعض أن زيادة وتعقيد متطلبات الحصول على ترخيص بمزاولة مهنة التعليم أمر غير مستحب</a:t>
            </a:r>
            <a:r>
              <a:rPr lang="ar-SA" sz="3600" dirty="0">
                <a:solidFill>
                  <a:schemeClr val="bg1"/>
                </a:solidFill>
              </a:rPr>
              <a:t> لأنه يقلل من عدد راغبى الانضمام لمهنة التعليم. </a:t>
            </a:r>
            <a:endParaRPr lang="en-US" sz="3600" dirty="0">
              <a:solidFill>
                <a:schemeClr val="bg1"/>
              </a:solidFill>
            </a:endParaRPr>
          </a:p>
          <a:p>
            <a:pPr lvl="0" algn="r" rtl="1"/>
            <a:r>
              <a:rPr lang="ar-EG" sz="3600" dirty="0" smtClean="0">
                <a:solidFill>
                  <a:srgbClr val="FF0000"/>
                </a:solidFill>
              </a:rPr>
              <a:t>7- </a:t>
            </a:r>
            <a:r>
              <a:rPr lang="ar-SA" sz="3600" dirty="0" smtClean="0">
                <a:solidFill>
                  <a:srgbClr val="FF0000"/>
                </a:solidFill>
              </a:rPr>
              <a:t>التشكك </a:t>
            </a:r>
            <a:r>
              <a:rPr lang="ar-SA" sz="3600" dirty="0">
                <a:solidFill>
                  <a:srgbClr val="FF0000"/>
                </a:solidFill>
              </a:rPr>
              <a:t>فى مدى موضوعية وشفافية الجهة </a:t>
            </a:r>
            <a:r>
              <a:rPr lang="ar-SA" sz="3600" dirty="0">
                <a:solidFill>
                  <a:schemeClr val="bg1"/>
                </a:solidFill>
              </a:rPr>
              <a:t>التي تقوم بمنح الترخيص وتدخل الوساطة والمحسوبية.</a:t>
            </a:r>
            <a:endParaRPr lang="en-US" sz="3600" dirty="0">
              <a:solidFill>
                <a:schemeClr val="bg1"/>
              </a:solidFill>
            </a:endParaRPr>
          </a:p>
          <a:p>
            <a:pPr rtl="1"/>
            <a:r>
              <a:rPr lang="ar-SA" b="1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11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633</TotalTime>
  <Words>1579</Words>
  <Application>Microsoft Office PowerPoint</Application>
  <PresentationFormat>On-screen Show (4:3)</PresentationFormat>
  <Paragraphs>96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Perspective</vt:lpstr>
      <vt:lpstr>    الرخصة المهنية لمزاولة مهنة التعليم :</vt:lpstr>
      <vt:lpstr> الرخصة المهنية لمزاولة مهنة التعليم</vt:lpstr>
      <vt:lpstr>مفهوم الترخيص المهني: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By : Ahmed Nasser HK / HK-PROJECTS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المعلم ومهنة التعليم</dc:title>
  <dc:creator>admin</dc:creator>
  <cp:lastModifiedBy>EL7_gazy</cp:lastModifiedBy>
  <cp:revision>59</cp:revision>
  <dcterms:created xsi:type="dcterms:W3CDTF">2022-10-09T19:18:48Z</dcterms:created>
  <dcterms:modified xsi:type="dcterms:W3CDTF">2023-10-23T00:26:12Z</dcterms:modified>
</cp:coreProperties>
</file>