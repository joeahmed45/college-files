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3" d="100"/>
          <a:sy n="73" d="100"/>
        </p:scale>
        <p:origin x="235"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ar-SA" smtClean="0"/>
              <a:t>انقر لتحرير نمط العنوان الرئيسي</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smtClean="0"/>
              <a:t>انقر لتحرير نمط العنوان الثانوي الرئيسي</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10/15/2023</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dirty="0"/>
          </a:p>
        </p:txBody>
      </p:sp>
      <p:sp>
        <p:nvSpPr>
          <p:cNvPr id="3" name="Content Placeholder 2"/>
          <p:cNvSpPr>
            <a:spLocks noGrp="1"/>
          </p:cNvSpPr>
          <p:nvPr>
            <p:ph idx="1"/>
          </p:nvPr>
        </p:nvSpPr>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ar-SA" smtClean="0"/>
              <a:t>انقر لتحرير نمط العنوان الرئيسي</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smtClean="0"/>
              <a:t>تحرير أنماط النص الرئيسي</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10/15/2023</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ar-SA" smtClean="0"/>
              <a:t>انقر لتحرير نمط العنوان الرئيسي</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ar-SA" smtClean="0"/>
              <a:t>انقر لتحرير نمط العنوان الرئيسي</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تحرير أنماط النص الرئيسي</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تحرير أنماط النص الرئيسي</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ذو تسمية توضيحية">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ar-SA" smtClean="0"/>
              <a:t>انقر لتحرير نمط العنوان الرئيسي</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تحرير أنماط النص الرئيسي</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10/15/2023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ar-SA" smtClean="0"/>
              <a:t>انقر لتحرير نمط العنوان الرئيسي</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smtClean="0"/>
              <a:t>انقر فوق الأيقونة لإضافة صورة</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تحرير أنماط النص الرئيسي</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10/15/2023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ar-SA" smtClean="0"/>
              <a:t>انقر لتحرير نمط العنوان الرئيسي</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ar-SA" smtClean="0"/>
              <a:t>انقر لتحرير نمط العنوان الرئيسي</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10/15/2023</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1915129" y="1227909"/>
            <a:ext cx="8391466" cy="1946365"/>
          </a:xfrm>
        </p:spPr>
        <p:txBody>
          <a:bodyPr/>
          <a:lstStyle/>
          <a:p>
            <a:r>
              <a:rPr lang="ar-EG" sz="6000" b="1" dirty="0" smtClean="0">
                <a:solidFill>
                  <a:schemeClr val="accent2">
                    <a:lumMod val="75000"/>
                  </a:schemeClr>
                </a:solidFill>
                <a:latin typeface="Times New Roman" panose="02020603050405020304" pitchFamily="18" charset="0"/>
                <a:cs typeface="Times New Roman" panose="02020603050405020304" pitchFamily="18" charset="0"/>
              </a:rPr>
              <a:t>مراحل تطور مهنة التعليم</a:t>
            </a:r>
            <a:r>
              <a:rPr lang="en-US" sz="6000" b="1" dirty="0" smtClean="0">
                <a:solidFill>
                  <a:schemeClr val="accent2">
                    <a:lumMod val="75000"/>
                  </a:schemeClr>
                </a:solidFill>
                <a:latin typeface="Times New Roman" panose="02020603050405020304" pitchFamily="18" charset="0"/>
                <a:cs typeface="Times New Roman" panose="02020603050405020304" pitchFamily="18" charset="0"/>
              </a:rPr>
              <a:t/>
            </a:r>
            <a:br>
              <a:rPr lang="en-US" sz="6000" b="1" dirty="0" smtClean="0">
                <a:solidFill>
                  <a:schemeClr val="accent2">
                    <a:lumMod val="75000"/>
                  </a:schemeClr>
                </a:solidFill>
                <a:latin typeface="Times New Roman" panose="02020603050405020304" pitchFamily="18" charset="0"/>
                <a:cs typeface="Times New Roman" panose="02020603050405020304" pitchFamily="18" charset="0"/>
              </a:rPr>
            </a:br>
            <a:endParaRPr lang="en-US" sz="60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297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305611" y="207818"/>
            <a:ext cx="10032275" cy="924791"/>
          </a:xfrm>
          <a:solidFill>
            <a:srgbClr val="FFC000"/>
          </a:solidFill>
        </p:spPr>
        <p:txBody>
          <a:bodyPr>
            <a:normAutofit/>
          </a:bodyPr>
          <a:lstStyle/>
          <a:p>
            <a:pPr rtl="1"/>
            <a:r>
              <a:rPr lang="ar-EG" b="1" dirty="0" smtClean="0"/>
              <a:t>1</a:t>
            </a:r>
            <a:r>
              <a:rPr lang="ar-SA" b="1" dirty="0" smtClean="0"/>
              <a:t>-  </a:t>
            </a:r>
            <a:r>
              <a:rPr lang="ar-SA" b="1" dirty="0"/>
              <a:t>مهنة التعليم في العصور البدائية</a:t>
            </a:r>
            <a:endParaRPr lang="en-US" dirty="0"/>
          </a:p>
        </p:txBody>
      </p:sp>
      <p:sp>
        <p:nvSpPr>
          <p:cNvPr id="3" name="عنصر نائب للمحتوى 2"/>
          <p:cNvSpPr>
            <a:spLocks noGrp="1"/>
          </p:cNvSpPr>
          <p:nvPr>
            <p:ph idx="1"/>
          </p:nvPr>
        </p:nvSpPr>
        <p:spPr>
          <a:xfrm>
            <a:off x="1371599" y="1194954"/>
            <a:ext cx="10048009" cy="4913712"/>
          </a:xfrm>
        </p:spPr>
        <p:txBody>
          <a:bodyPr>
            <a:noAutofit/>
          </a:bodyPr>
          <a:lstStyle/>
          <a:p>
            <a:pPr algn="r">
              <a:buFont typeface="Wingdings" pitchFamily="2" charset="2"/>
              <a:buChar char="v"/>
            </a:pPr>
            <a:r>
              <a:rPr lang="ar-SA" sz="4000" dirty="0" smtClean="0"/>
              <a:t>كان </a:t>
            </a:r>
            <a:r>
              <a:rPr lang="ar-SA" sz="4000" dirty="0"/>
              <a:t>التعليم في القبائل البدائية القديمة يقتصر على ما يلقنه الآباء إلى أولادهم، وما يلاحظه الأطفال من أعمال وسلوكيات عند </a:t>
            </a:r>
            <a:r>
              <a:rPr lang="ar-SA" sz="4000" dirty="0" smtClean="0"/>
              <a:t>الكبار</a:t>
            </a:r>
            <a:r>
              <a:rPr lang="ar-EG" sz="4000" dirty="0" smtClean="0"/>
              <a:t>.</a:t>
            </a:r>
          </a:p>
          <a:p>
            <a:pPr algn="r">
              <a:buFont typeface="Wingdings" pitchFamily="2" charset="2"/>
              <a:buChar char="v"/>
            </a:pPr>
            <a:r>
              <a:rPr lang="ar-SA" sz="4000" dirty="0" smtClean="0"/>
              <a:t> </a:t>
            </a:r>
            <a:r>
              <a:rPr lang="ar-SA" sz="4000" dirty="0"/>
              <a:t>ثم ازدادت أهمية التعليم لنقل التراث المكتوب عبر الأجيال، وحفظه من </a:t>
            </a:r>
            <a:r>
              <a:rPr lang="ar-SA" sz="4000" dirty="0" smtClean="0"/>
              <a:t>الاندثار</a:t>
            </a:r>
            <a:r>
              <a:rPr lang="ar-EG" sz="4000" dirty="0" smtClean="0"/>
              <a:t>.</a:t>
            </a:r>
          </a:p>
          <a:p>
            <a:pPr algn="r">
              <a:buFont typeface="Wingdings" pitchFamily="2" charset="2"/>
              <a:buChar char="v"/>
            </a:pPr>
            <a:r>
              <a:rPr lang="ar-SA" sz="4000" dirty="0" smtClean="0"/>
              <a:t> </a:t>
            </a:r>
            <a:r>
              <a:rPr lang="ar-SA" sz="4000" dirty="0"/>
              <a:t>فظهرت المدارس النظامية، ولكن في تلك الفترة كان مقتصرا على صفوة من الخاصة؛ كرجال الدين نتيجة سمو مكانة التعليم، وكان مقصورا على تعلم رموز اللغة</a:t>
            </a:r>
            <a:endParaRPr lang="ar-EG" sz="4000" dirty="0" smtClean="0">
              <a:latin typeface="Times New Roman" panose="02020603050405020304" pitchFamily="18" charset="0"/>
              <a:ea typeface="Times New Roman" panose="02020603050405020304" pitchFamily="18" charset="0"/>
              <a:cs typeface="Simplified Arabic" panose="02020603050405020304" pitchFamily="18" charset="-78"/>
            </a:endParaRPr>
          </a:p>
          <a:p>
            <a:pPr algn="r" rtl="1"/>
            <a:endParaRPr lang="en-US" sz="4000" dirty="0"/>
          </a:p>
        </p:txBody>
      </p:sp>
    </p:spTree>
    <p:extLst>
      <p:ext uri="{BB962C8B-B14F-4D97-AF65-F5344CB8AC3E}">
        <p14:creationId xmlns:p14="http://schemas.microsoft.com/office/powerpoint/2010/main" val="2900081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371599" y="431074"/>
            <a:ext cx="10110651" cy="627017"/>
          </a:xfrm>
        </p:spPr>
        <p:txBody>
          <a:bodyPr>
            <a:noAutofit/>
          </a:bodyPr>
          <a:lstStyle/>
          <a:p>
            <a:pPr algn="r" rtl="1"/>
            <a:r>
              <a:rPr lang="ar-EG" b="1" dirty="0" smtClean="0">
                <a:solidFill>
                  <a:srgbClr val="00B050"/>
                </a:solidFill>
              </a:rPr>
              <a:t>2-</a:t>
            </a:r>
            <a:r>
              <a:rPr lang="ar-SA" b="1" dirty="0" smtClean="0">
                <a:solidFill>
                  <a:srgbClr val="00B050"/>
                </a:solidFill>
              </a:rPr>
              <a:t>مهنة </a:t>
            </a:r>
            <a:r>
              <a:rPr lang="ar-SA" b="1" dirty="0">
                <a:solidFill>
                  <a:srgbClr val="00B050"/>
                </a:solidFill>
              </a:rPr>
              <a:t>التعليم في العصور الوسطى</a:t>
            </a:r>
            <a:endParaRPr lang="en-US" b="1" u="sng" dirty="0">
              <a:solidFill>
                <a:srgbClr val="00B050"/>
              </a:solidFill>
              <a:latin typeface="Times New Roman" panose="02020603050405020304" pitchFamily="18" charset="0"/>
              <a:cs typeface="Times New Roman" panose="02020603050405020304" pitchFamily="18" charset="0"/>
            </a:endParaRPr>
          </a:p>
        </p:txBody>
      </p:sp>
      <p:sp>
        <p:nvSpPr>
          <p:cNvPr id="3" name="عنصر نائب للمحتوى 2"/>
          <p:cNvSpPr>
            <a:spLocks noGrp="1"/>
          </p:cNvSpPr>
          <p:nvPr>
            <p:ph idx="1"/>
          </p:nvPr>
        </p:nvSpPr>
        <p:spPr>
          <a:xfrm>
            <a:off x="1371600" y="1058091"/>
            <a:ext cx="10110650" cy="4809309"/>
          </a:xfrm>
        </p:spPr>
        <p:txBody>
          <a:bodyPr>
            <a:normAutofit lnSpcReduction="10000"/>
          </a:bodyPr>
          <a:lstStyle/>
          <a:p>
            <a:pPr algn="r" rtl="1">
              <a:buFont typeface="Wingdings" pitchFamily="2" charset="2"/>
              <a:buChar char="v"/>
            </a:pPr>
            <a:r>
              <a:rPr lang="ar-SA" sz="3600" dirty="0"/>
              <a:t>في العصور الوسطى أو العصور المسيحية تم الاهتمام بالفلسفة والبيان بشكل أكبر، مما جعل معلمي هذه المواد أحسن حالاً من معلمي مواد القراءة والكتابة، وكان رجال الدين في تلك الفترة يعلمون الناس القراءة </a:t>
            </a:r>
            <a:r>
              <a:rPr lang="ar-SA" sz="3600" dirty="0" smtClean="0"/>
              <a:t>والكتابة</a:t>
            </a:r>
            <a:r>
              <a:rPr lang="ar-EG" sz="3600" dirty="0" smtClean="0"/>
              <a:t>.</a:t>
            </a:r>
          </a:p>
          <a:p>
            <a:pPr algn="r" rtl="1">
              <a:buFont typeface="Wingdings" pitchFamily="2" charset="2"/>
              <a:buChar char="v"/>
            </a:pPr>
            <a:r>
              <a:rPr lang="ar-SA" sz="3600" dirty="0"/>
              <a:t>وانقسموا إلى نوعين : </a:t>
            </a:r>
            <a:r>
              <a:rPr lang="ar-SA" sz="3600" dirty="0">
                <a:solidFill>
                  <a:srgbClr val="FF0000"/>
                </a:solidFill>
              </a:rPr>
              <a:t>معلموا المرحلة الأولى وهم من يعلمون الأطفال القراءة والكتابة وفهم آيات الكتاب المقدس، وحفظها، وتعلم بعض ألحان </a:t>
            </a:r>
            <a:r>
              <a:rPr lang="ar-SA" sz="3600" dirty="0" smtClean="0">
                <a:solidFill>
                  <a:srgbClr val="FF0000"/>
                </a:solidFill>
              </a:rPr>
              <a:t>الكنيسة</a:t>
            </a:r>
            <a:r>
              <a:rPr lang="ar-EG" sz="3600" dirty="0" smtClean="0">
                <a:solidFill>
                  <a:srgbClr val="FF0000"/>
                </a:solidFill>
              </a:rPr>
              <a:t>.</a:t>
            </a:r>
            <a:endParaRPr lang="en-US" sz="3600"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33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371599" y="627017"/>
            <a:ext cx="10476412" cy="901337"/>
          </a:xfrm>
        </p:spPr>
        <p:txBody>
          <a:bodyPr>
            <a:normAutofit fontScale="90000"/>
          </a:bodyPr>
          <a:lstStyle/>
          <a:p>
            <a:pPr marL="0" marR="0" algn="r">
              <a:lnSpc>
                <a:spcPct val="130000"/>
              </a:lnSpc>
              <a:spcBef>
                <a:spcPts val="0"/>
              </a:spcBef>
              <a:spcAft>
                <a:spcPts val="0"/>
              </a:spcAft>
            </a:pPr>
            <a:r>
              <a:rPr lang="ar-EG" b="1" dirty="0" smtClean="0">
                <a:solidFill>
                  <a:srgbClr val="00B050"/>
                </a:solidFill>
              </a:rPr>
              <a:t>    مهنة التعليم في العصور الوسطي</a:t>
            </a:r>
            <a:endParaRPr lang="en-US" b="1" dirty="0">
              <a:solidFill>
                <a:srgbClr val="00B050"/>
              </a:solidFill>
            </a:endParaRPr>
          </a:p>
        </p:txBody>
      </p:sp>
      <p:sp>
        <p:nvSpPr>
          <p:cNvPr id="3" name="عنصر نائب للمحتوى 2"/>
          <p:cNvSpPr>
            <a:spLocks noGrp="1"/>
          </p:cNvSpPr>
          <p:nvPr>
            <p:ph idx="1"/>
          </p:nvPr>
        </p:nvSpPr>
        <p:spPr>
          <a:xfrm>
            <a:off x="1371599" y="1632857"/>
            <a:ext cx="10620104" cy="4885509"/>
          </a:xfrm>
        </p:spPr>
        <p:txBody>
          <a:bodyPr>
            <a:normAutofit/>
          </a:bodyPr>
          <a:lstStyle/>
          <a:p>
            <a:pPr algn="r" rtl="1"/>
            <a:r>
              <a:rPr lang="ar-SA" sz="4800" dirty="0">
                <a:solidFill>
                  <a:srgbClr val="FF0000"/>
                </a:solidFill>
              </a:rPr>
              <a:t>ومعلموا التعليم العالي وهم على درجة عالية من الفهم والثقافة والمعرفة</a:t>
            </a:r>
            <a:r>
              <a:rPr lang="ar-SA" sz="4800" dirty="0"/>
              <a:t>، فيدرسون الدراسات اللاهوتية في أمور الدين والعقيدة، وكانت هذه الدراسات حكرا على أبناء الملوك والخاصة</a:t>
            </a:r>
            <a:r>
              <a:rPr lang="ar-SA" sz="4800" b="1" dirty="0"/>
              <a:t>.</a:t>
            </a:r>
            <a:endParaRPr lang="en-US" sz="4800" dirty="0"/>
          </a:p>
        </p:txBody>
      </p:sp>
    </p:spTree>
    <p:extLst>
      <p:ext uri="{BB962C8B-B14F-4D97-AF65-F5344CB8AC3E}">
        <p14:creationId xmlns:p14="http://schemas.microsoft.com/office/powerpoint/2010/main" val="3693041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p:cNvSpPr>
            <a:spLocks noGrp="1"/>
          </p:cNvSpPr>
          <p:nvPr>
            <p:ph idx="1"/>
          </p:nvPr>
        </p:nvSpPr>
        <p:spPr>
          <a:xfrm>
            <a:off x="1371599" y="391886"/>
            <a:ext cx="10437224" cy="6217920"/>
          </a:xfrm>
        </p:spPr>
        <p:txBody>
          <a:bodyPr>
            <a:normAutofit fontScale="92500" lnSpcReduction="10000"/>
          </a:bodyPr>
          <a:lstStyle/>
          <a:p>
            <a:pPr marL="0" lvl="0" indent="0" algn="ctr" rtl="1">
              <a:lnSpc>
                <a:spcPct val="130000"/>
              </a:lnSpc>
              <a:spcBef>
                <a:spcPts val="0"/>
              </a:spcBef>
              <a:spcAft>
                <a:spcPts val="0"/>
              </a:spcAft>
              <a:buNone/>
            </a:pPr>
            <a:r>
              <a:rPr lang="ar-EG" sz="4800" b="1" dirty="0" smtClean="0">
                <a:solidFill>
                  <a:srgbClr val="92D050"/>
                </a:solidFill>
                <a:latin typeface="Simplified Arabic" panose="02020603050405020304" pitchFamily="18" charset="-78"/>
                <a:cs typeface="Simplified Arabic" panose="02020603050405020304" pitchFamily="18" charset="-78"/>
              </a:rPr>
              <a:t>3</a:t>
            </a:r>
            <a:r>
              <a:rPr lang="ar-EG" sz="5200" b="1" dirty="0" smtClean="0">
                <a:solidFill>
                  <a:srgbClr val="92D050"/>
                </a:solidFill>
                <a:latin typeface="Simplified Arabic" panose="02020603050405020304" pitchFamily="18" charset="-78"/>
                <a:cs typeface="Simplified Arabic" panose="02020603050405020304" pitchFamily="18" charset="-78"/>
              </a:rPr>
              <a:t>- مهنة التعليم في العصور الإسلامية</a:t>
            </a:r>
            <a:endParaRPr lang="en-US" sz="5200" b="1" dirty="0">
              <a:solidFill>
                <a:srgbClr val="92D050"/>
              </a:solidFill>
              <a:latin typeface="Simplified Arabic" panose="02020603050405020304" pitchFamily="18" charset="-78"/>
              <a:cs typeface="Simplified Arabic" panose="02020603050405020304" pitchFamily="18" charset="-78"/>
            </a:endParaRPr>
          </a:p>
          <a:p>
            <a:pPr algn="r"/>
            <a:r>
              <a:rPr lang="ar-SA" sz="4400" dirty="0"/>
              <a:t>كان للعلم في مرحلة العصر الإسلامي أهمية </a:t>
            </a:r>
            <a:r>
              <a:rPr lang="ar-SA" sz="4400" dirty="0" smtClean="0"/>
              <a:t>خاصة</a:t>
            </a:r>
            <a:r>
              <a:rPr lang="ar-EG" sz="4400" dirty="0" smtClean="0"/>
              <a:t>.</a:t>
            </a:r>
          </a:p>
          <a:p>
            <a:pPr algn="r"/>
            <a:r>
              <a:rPr lang="ar-SA" sz="4400" dirty="0" smtClean="0"/>
              <a:t> </a:t>
            </a:r>
            <a:r>
              <a:rPr lang="ar-SA" sz="4400" dirty="0">
                <a:solidFill>
                  <a:srgbClr val="FF0000"/>
                </a:solidFill>
              </a:rPr>
              <a:t>فالكلمة الأولى </a:t>
            </a:r>
            <a:r>
              <a:rPr lang="ar-SA" sz="4400" dirty="0"/>
              <a:t>التي نزلت من عند الله تعالى لسيدنا محمد صلى الله عليه وسلم هي: </a:t>
            </a:r>
            <a:r>
              <a:rPr lang="ar-SA" sz="4400" dirty="0">
                <a:solidFill>
                  <a:srgbClr val="FF0000"/>
                </a:solidFill>
              </a:rPr>
              <a:t>اقرأ</a:t>
            </a:r>
            <a:r>
              <a:rPr lang="ar-SA" sz="4400" dirty="0"/>
              <a:t>، وهذا دليل على أهمية القراءة والكتابة على الرغم من أنه عليه الصلاة والسلام كان </a:t>
            </a:r>
            <a:r>
              <a:rPr lang="ar-SA" sz="4400" dirty="0">
                <a:solidFill>
                  <a:srgbClr val="FF0000"/>
                </a:solidFill>
              </a:rPr>
              <a:t>أميا</a:t>
            </a:r>
            <a:r>
              <a:rPr lang="ar-SA" sz="4400" dirty="0"/>
              <a:t>، لذلك كان سيدنا محمد صلى الله عليه وسلم هو </a:t>
            </a:r>
            <a:r>
              <a:rPr lang="ar-SA" sz="4400" dirty="0">
                <a:solidFill>
                  <a:srgbClr val="FF0000"/>
                </a:solidFill>
              </a:rPr>
              <a:t>المعلم الأول، ولم تكن مهنة التعليم حرفة لكسب المال، وإنما خدمة لها معان </a:t>
            </a:r>
            <a:r>
              <a:rPr lang="ar-SA" sz="4400" dirty="0" smtClean="0">
                <a:solidFill>
                  <a:srgbClr val="FF0000"/>
                </a:solidFill>
              </a:rPr>
              <a:t>دينية</a:t>
            </a:r>
            <a:r>
              <a:rPr lang="ar-EG" sz="4400" dirty="0" smtClean="0">
                <a:solidFill>
                  <a:srgbClr val="FF0000"/>
                </a:solidFill>
              </a:rPr>
              <a:t>.</a:t>
            </a:r>
            <a:endParaRPr lang="en-US" sz="4400" dirty="0">
              <a:solidFill>
                <a:srgbClr val="FF0000"/>
              </a:solidFill>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558193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EG" b="1" dirty="0" smtClean="0">
                <a:solidFill>
                  <a:srgbClr val="00B050"/>
                </a:solidFill>
              </a:rPr>
              <a:t>مهنة التعليم في العصور الإسلامية     </a:t>
            </a:r>
            <a:endParaRPr lang="ar-EG" b="1" dirty="0">
              <a:solidFill>
                <a:srgbClr val="00B050"/>
              </a:solidFill>
            </a:endParaRPr>
          </a:p>
        </p:txBody>
      </p:sp>
      <p:sp>
        <p:nvSpPr>
          <p:cNvPr id="3" name="Content Placeholder 2"/>
          <p:cNvSpPr>
            <a:spLocks noGrp="1"/>
          </p:cNvSpPr>
          <p:nvPr>
            <p:ph idx="1"/>
          </p:nvPr>
        </p:nvSpPr>
        <p:spPr/>
        <p:txBody>
          <a:bodyPr>
            <a:normAutofit fontScale="55000" lnSpcReduction="20000"/>
          </a:bodyPr>
          <a:lstStyle/>
          <a:p>
            <a:pPr algn="r" rtl="1"/>
            <a:r>
              <a:rPr lang="ar-SA" sz="7000" dirty="0">
                <a:solidFill>
                  <a:srgbClr val="FF0000"/>
                </a:solidFill>
              </a:rPr>
              <a:t>وكان المعلمون في تلك المرحلة ينقسمون إلى:</a:t>
            </a:r>
            <a:endParaRPr lang="en-US" sz="7000" dirty="0">
              <a:solidFill>
                <a:srgbClr val="FF0000"/>
              </a:solidFill>
            </a:endParaRPr>
          </a:p>
          <a:p>
            <a:pPr algn="r" rtl="1"/>
            <a:r>
              <a:rPr lang="ar-SA" sz="7000" dirty="0">
                <a:solidFill>
                  <a:srgbClr val="FF0000"/>
                </a:solidFill>
              </a:rPr>
              <a:t>معلمو المرحلة الأولى أو الكتائب </a:t>
            </a:r>
            <a:r>
              <a:rPr lang="ar-SA" sz="7000" dirty="0"/>
              <a:t>وهم لديهم معرفة متدنية وقليلة</a:t>
            </a:r>
            <a:r>
              <a:rPr lang="ar-SA" sz="7000" dirty="0" smtClean="0"/>
              <a:t>.</a:t>
            </a:r>
            <a:endParaRPr lang="ar-EG" sz="7000" dirty="0" smtClean="0"/>
          </a:p>
          <a:p>
            <a:pPr algn="r" rtl="1"/>
            <a:r>
              <a:rPr lang="ar-SA" sz="7000" dirty="0" smtClean="0"/>
              <a:t> </a:t>
            </a:r>
            <a:r>
              <a:rPr lang="ar-SA" sz="7000" dirty="0">
                <a:solidFill>
                  <a:srgbClr val="FF0000"/>
                </a:solidFill>
              </a:rPr>
              <a:t>معلمو المساجد والمدارس </a:t>
            </a:r>
            <a:r>
              <a:rPr lang="ar-SA" sz="7000" dirty="0"/>
              <a:t>وهم الذين يتمتعون بالمكانة المرموقة نتيجة درجتهم العالية في العلم والمعرفة </a:t>
            </a:r>
            <a:r>
              <a:rPr lang="ar-SA" dirty="0"/>
              <a:t>.</a:t>
            </a:r>
            <a:endParaRPr lang="en-US" dirty="0"/>
          </a:p>
        </p:txBody>
      </p:sp>
    </p:spTree>
    <p:extLst>
      <p:ext uri="{BB962C8B-B14F-4D97-AF65-F5344CB8AC3E}">
        <p14:creationId xmlns:p14="http://schemas.microsoft.com/office/powerpoint/2010/main" val="315148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1"/>
            <a:ext cx="9601200" cy="1007918"/>
          </a:xfrm>
        </p:spPr>
        <p:txBody>
          <a:bodyPr>
            <a:normAutofit fontScale="90000"/>
          </a:bodyPr>
          <a:lstStyle/>
          <a:p>
            <a:pPr lvl="0" algn="ctr"/>
            <a:r>
              <a:rPr lang="ar-EG" sz="4800" b="1" dirty="0" smtClean="0">
                <a:solidFill>
                  <a:srgbClr val="FF0000"/>
                </a:solidFill>
              </a:rPr>
              <a:t>4-</a:t>
            </a:r>
            <a:r>
              <a:rPr lang="ar-SA" sz="4800" b="1" dirty="0" smtClean="0">
                <a:solidFill>
                  <a:srgbClr val="FF0000"/>
                </a:solidFill>
              </a:rPr>
              <a:t>مهنة </a:t>
            </a:r>
            <a:r>
              <a:rPr lang="ar-SA" sz="4800" b="1" dirty="0">
                <a:solidFill>
                  <a:srgbClr val="FF0000"/>
                </a:solidFill>
              </a:rPr>
              <a:t>التعليم في عصر النهضة</a:t>
            </a:r>
            <a:r>
              <a:rPr lang="en-US" sz="4800" b="1" dirty="0">
                <a:solidFill>
                  <a:srgbClr val="FF0000"/>
                </a:solidFill>
              </a:rPr>
              <a:t/>
            </a:r>
            <a:br>
              <a:rPr lang="en-US" sz="4800" b="1" dirty="0">
                <a:solidFill>
                  <a:srgbClr val="FF0000"/>
                </a:solidFill>
              </a:rPr>
            </a:br>
            <a:endParaRPr lang="ar-EG" sz="4800" b="1" dirty="0">
              <a:solidFill>
                <a:srgbClr val="FF0000"/>
              </a:solidFill>
            </a:endParaRPr>
          </a:p>
        </p:txBody>
      </p:sp>
      <p:sp>
        <p:nvSpPr>
          <p:cNvPr id="3" name="Content Placeholder 2"/>
          <p:cNvSpPr>
            <a:spLocks noGrp="1"/>
          </p:cNvSpPr>
          <p:nvPr>
            <p:ph idx="1"/>
          </p:nvPr>
        </p:nvSpPr>
        <p:spPr>
          <a:xfrm>
            <a:off x="1371600" y="1693718"/>
            <a:ext cx="9601200" cy="4173682"/>
          </a:xfrm>
        </p:spPr>
        <p:txBody>
          <a:bodyPr>
            <a:normAutofit/>
          </a:bodyPr>
          <a:lstStyle/>
          <a:p>
            <a:pPr algn="r"/>
            <a:r>
              <a:rPr lang="ar-SA" sz="4400" b="1" dirty="0">
                <a:solidFill>
                  <a:srgbClr val="FF0000"/>
                </a:solidFill>
              </a:rPr>
              <a:t>تحسنت أوضاع المعلمين </a:t>
            </a:r>
            <a:r>
              <a:rPr lang="ar-SA" sz="4400" b="1" dirty="0"/>
              <a:t>في هذه الفترة بشكل واضح من جميع الجهات، سواء المادية أو الاجتماعية، وبقي هناك فرق واضح بين معلمي المرحلة الأولى، ومعلمي المرحلة العالية أو الثانوية.</a:t>
            </a:r>
            <a:endParaRPr lang="ar-EG" sz="4400" b="1" dirty="0"/>
          </a:p>
        </p:txBody>
      </p:sp>
    </p:spTree>
    <p:extLst>
      <p:ext uri="{BB962C8B-B14F-4D97-AF65-F5344CB8AC3E}">
        <p14:creationId xmlns:p14="http://schemas.microsoft.com/office/powerpoint/2010/main" val="1094296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507682" cy="810491"/>
          </a:xfrm>
        </p:spPr>
        <p:txBody>
          <a:bodyPr/>
          <a:lstStyle/>
          <a:p>
            <a:pPr lvl="0" algn="ctr" rtl="1"/>
            <a:r>
              <a:rPr lang="ar-EG" b="1" dirty="0" smtClean="0">
                <a:solidFill>
                  <a:srgbClr val="FF0000"/>
                </a:solidFill>
              </a:rPr>
              <a:t>5- </a:t>
            </a:r>
            <a:r>
              <a:rPr lang="ar-SA" b="1" dirty="0" smtClean="0">
                <a:solidFill>
                  <a:srgbClr val="FF0000"/>
                </a:solidFill>
              </a:rPr>
              <a:t>مهنة </a:t>
            </a:r>
            <a:r>
              <a:rPr lang="ar-SA" b="1" dirty="0">
                <a:solidFill>
                  <a:srgbClr val="FF0000"/>
                </a:solidFill>
              </a:rPr>
              <a:t>التعليم في عصر الإصلاح</a:t>
            </a:r>
            <a:endParaRPr lang="en-US" b="1" dirty="0">
              <a:solidFill>
                <a:srgbClr val="FF0000"/>
              </a:solidFill>
            </a:endParaRPr>
          </a:p>
        </p:txBody>
      </p:sp>
      <p:sp>
        <p:nvSpPr>
          <p:cNvPr id="3" name="Content Placeholder 2"/>
          <p:cNvSpPr>
            <a:spLocks noGrp="1"/>
          </p:cNvSpPr>
          <p:nvPr>
            <p:ph idx="1"/>
          </p:nvPr>
        </p:nvSpPr>
        <p:spPr>
          <a:xfrm>
            <a:off x="1454728" y="1589809"/>
            <a:ext cx="9601200" cy="3581400"/>
          </a:xfrm>
        </p:spPr>
        <p:txBody>
          <a:bodyPr>
            <a:normAutofit/>
          </a:bodyPr>
          <a:lstStyle/>
          <a:p>
            <a:pPr algn="r" rtl="1"/>
            <a:r>
              <a:rPr lang="ar-SA" sz="4800" b="1" dirty="0">
                <a:solidFill>
                  <a:srgbClr val="00B050"/>
                </a:solidFill>
              </a:rPr>
              <a:t>تطورت مهنة التعليم بشكل واضح في عصر الإصلاح</a:t>
            </a:r>
            <a:r>
              <a:rPr lang="ar-SA" sz="4800" b="1" dirty="0"/>
              <a:t>، فأصبحت منظمة، ولها أصول ووسائل، وأصبحت المواد تدرس في الكليات والجامعات.</a:t>
            </a:r>
            <a:endParaRPr lang="en-US" sz="4800" b="1" dirty="0"/>
          </a:p>
        </p:txBody>
      </p:sp>
    </p:spTree>
    <p:extLst>
      <p:ext uri="{BB962C8B-B14F-4D97-AF65-F5344CB8AC3E}">
        <p14:creationId xmlns:p14="http://schemas.microsoft.com/office/powerpoint/2010/main" val="2227494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ar-SA" b="1" dirty="0">
                <a:solidFill>
                  <a:srgbClr val="FF0000"/>
                </a:solidFill>
              </a:rPr>
              <a:t>أن التعليم قد مر فى تطوره كمهنة بثلاث مراحل متميزةهى : -</a:t>
            </a:r>
            <a:endParaRPr lang="en-US" dirty="0">
              <a:solidFill>
                <a:srgbClr val="FF0000"/>
              </a:solidFill>
            </a:endParaRPr>
          </a:p>
        </p:txBody>
      </p:sp>
      <p:sp>
        <p:nvSpPr>
          <p:cNvPr id="3" name="Content Placeholder 2"/>
          <p:cNvSpPr>
            <a:spLocks noGrp="1"/>
          </p:cNvSpPr>
          <p:nvPr>
            <p:ph idx="1"/>
          </p:nvPr>
        </p:nvSpPr>
        <p:spPr/>
        <p:txBody>
          <a:bodyPr/>
          <a:lstStyle/>
          <a:p>
            <a:pPr algn="r" rtl="1"/>
            <a:r>
              <a:rPr lang="ar-EG" sz="6000" b="1" dirty="0" smtClean="0"/>
              <a:t>1</a:t>
            </a:r>
            <a:r>
              <a:rPr lang="ar-SA" b="1" dirty="0" smtClean="0"/>
              <a:t> </a:t>
            </a:r>
            <a:r>
              <a:rPr lang="ar-SA" sz="6000" b="1" dirty="0"/>
              <a:t>- المرحلة قبل </a:t>
            </a:r>
            <a:r>
              <a:rPr lang="ar-SA" sz="6000" b="1" dirty="0" smtClean="0"/>
              <a:t>المهنية</a:t>
            </a:r>
            <a:r>
              <a:rPr lang="ar-EG" sz="6000" b="1" dirty="0" smtClean="0"/>
              <a:t>.</a:t>
            </a:r>
            <a:endParaRPr lang="en-US" sz="6000" dirty="0"/>
          </a:p>
          <a:p>
            <a:pPr algn="r" rtl="1"/>
            <a:r>
              <a:rPr lang="ar-SA" sz="6000" b="1" dirty="0"/>
              <a:t>2 - المرحلة شبة </a:t>
            </a:r>
            <a:r>
              <a:rPr lang="ar-SA" sz="6000" b="1" dirty="0" smtClean="0"/>
              <a:t>المهنية</a:t>
            </a:r>
            <a:r>
              <a:rPr lang="ar-EG" sz="6000" b="1" dirty="0" smtClean="0"/>
              <a:t>.</a:t>
            </a:r>
            <a:endParaRPr lang="en-US" sz="6000" dirty="0"/>
          </a:p>
          <a:p>
            <a:pPr algn="r" rtl="1"/>
            <a:r>
              <a:rPr lang="ar-SA" sz="6000" b="1" dirty="0"/>
              <a:t>3 - المرحلة </a:t>
            </a:r>
            <a:r>
              <a:rPr lang="ar-SA" sz="6000" b="1" dirty="0" smtClean="0"/>
              <a:t>المهنية</a:t>
            </a:r>
            <a:r>
              <a:rPr lang="ar-EG" sz="6000" b="1" dirty="0" smtClean="0"/>
              <a:t>.</a:t>
            </a:r>
            <a:endParaRPr lang="en-US" sz="6000" dirty="0"/>
          </a:p>
          <a:p>
            <a:pPr algn="r"/>
            <a:endParaRPr lang="ar-EG" sz="6000" dirty="0"/>
          </a:p>
        </p:txBody>
      </p:sp>
    </p:spTree>
    <p:extLst>
      <p:ext uri="{BB962C8B-B14F-4D97-AF65-F5344CB8AC3E}">
        <p14:creationId xmlns:p14="http://schemas.microsoft.com/office/powerpoint/2010/main" val="6816410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A" b="1" dirty="0">
                <a:solidFill>
                  <a:srgbClr val="FF0000"/>
                </a:solidFill>
              </a:rPr>
              <a:t>أولاً: التعليم في المرحلة قبل المهنية :</a:t>
            </a:r>
            <a:endParaRPr lang="ar-EG"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pPr algn="r">
              <a:buFont typeface="Wingdings" pitchFamily="2" charset="2"/>
              <a:buChar char="Ø"/>
            </a:pPr>
            <a:r>
              <a:rPr lang="ar-EG" sz="2800" b="1" dirty="0" smtClean="0">
                <a:solidFill>
                  <a:schemeClr val="tx1"/>
                </a:solidFill>
              </a:rPr>
              <a:t>   </a:t>
            </a:r>
            <a:r>
              <a:rPr lang="ar-SA" sz="2800" b="1" dirty="0" smtClean="0">
                <a:solidFill>
                  <a:srgbClr val="FF0000"/>
                </a:solidFill>
              </a:rPr>
              <a:t>هذا </a:t>
            </a:r>
            <a:r>
              <a:rPr lang="ar-SA" sz="2800" b="1" dirty="0">
                <a:solidFill>
                  <a:srgbClr val="FF0000"/>
                </a:solidFill>
              </a:rPr>
              <a:t>النوع من التربية يتم فى إطار عائلي حيث يقوم الآباء بتربية الأبناء من حيث تعليمهم فنون الصيد وأساليب الزراعة والأنشطة البسيطة لمواجهة صعوبات الحياة</a:t>
            </a:r>
            <a:r>
              <a:rPr lang="ar-SA" sz="2800" b="1" dirty="0">
                <a:solidFill>
                  <a:schemeClr val="tx1"/>
                </a:solidFill>
              </a:rPr>
              <a:t>، كما قامت الأمهات بدور المعلمات للصغار من حيث تعليمهم اللغة والعادات السائدة آنذاك ، كما تولى الكهنة الجانب الأخلاقي للناشئة .</a:t>
            </a:r>
            <a:endParaRPr lang="en-US" sz="2800" b="1" dirty="0">
              <a:solidFill>
                <a:schemeClr val="tx1"/>
              </a:solidFill>
            </a:endParaRPr>
          </a:p>
          <a:p>
            <a:pPr algn="r">
              <a:buFont typeface="Wingdings" pitchFamily="2" charset="2"/>
              <a:buChar char="Ø"/>
            </a:pPr>
            <a:r>
              <a:rPr lang="ar-EG" sz="3200" b="1" dirty="0" smtClean="0"/>
              <a:t>   </a:t>
            </a:r>
            <a:r>
              <a:rPr lang="ar-SA" sz="3200" b="1" dirty="0" smtClean="0">
                <a:solidFill>
                  <a:srgbClr val="FF0000"/>
                </a:solidFill>
              </a:rPr>
              <a:t>هذا </a:t>
            </a:r>
            <a:r>
              <a:rPr lang="ar-SA" sz="3200" b="1" dirty="0">
                <a:solidFill>
                  <a:srgbClr val="FF0000"/>
                </a:solidFill>
              </a:rPr>
              <a:t>النوع من التربية قد إعتمد على التلقين المباشر والتقليد</a:t>
            </a:r>
            <a:r>
              <a:rPr lang="ar-SA" sz="3200" b="1" dirty="0"/>
              <a:t>، أى أنها تربية أولية بسيطة غير منظمة وغير مرتبطة بأية معايير أو محددات ومع تطور الحياة ونمو مناشطها </a:t>
            </a:r>
            <a:endParaRPr lang="ar-EG" sz="3200" b="1" dirty="0"/>
          </a:p>
        </p:txBody>
      </p:sp>
    </p:spTree>
    <p:extLst>
      <p:ext uri="{BB962C8B-B14F-4D97-AF65-F5344CB8AC3E}">
        <p14:creationId xmlns:p14="http://schemas.microsoft.com/office/powerpoint/2010/main" val="1487717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599" y="810491"/>
            <a:ext cx="9746673" cy="5798127"/>
          </a:xfrm>
        </p:spPr>
        <p:txBody>
          <a:bodyPr>
            <a:normAutofit fontScale="92500"/>
          </a:bodyPr>
          <a:lstStyle/>
          <a:p>
            <a:pPr algn="r">
              <a:buFont typeface="Wingdings" pitchFamily="2" charset="2"/>
              <a:buChar char="Ø"/>
            </a:pPr>
            <a:r>
              <a:rPr lang="ar-SA" sz="3500" b="1" dirty="0">
                <a:solidFill>
                  <a:srgbClr val="FF0000"/>
                </a:solidFill>
              </a:rPr>
              <a:t>تزايدت أنشطة المجتمع وبالتالي لم يعد التقليد والمحاكاه الوسيلة الوحيدة في التعليم ونقل التراث، فنشأت الكتابة كوسيلة فعالة</a:t>
            </a:r>
            <a:r>
              <a:rPr lang="ar-SA" sz="3500" b="1" dirty="0"/>
              <a:t>، وقد وكل أمر تعلميها إلى الكهنة والموظفين البارزين من </a:t>
            </a:r>
            <a:r>
              <a:rPr lang="ar-SA" sz="3500" b="1" dirty="0" smtClean="0"/>
              <a:t>رجال </a:t>
            </a:r>
            <a:r>
              <a:rPr lang="ar-SA" sz="3500" b="1" dirty="0"/>
              <a:t>الدولة والذين ظهروا </a:t>
            </a:r>
            <a:r>
              <a:rPr lang="ar-SA" sz="3500" b="1" dirty="0" smtClean="0"/>
              <a:t>كمربين</a:t>
            </a:r>
            <a:r>
              <a:rPr lang="ar-EG" sz="3500" b="1" dirty="0" smtClean="0"/>
              <a:t>.</a:t>
            </a:r>
          </a:p>
          <a:p>
            <a:pPr algn="r">
              <a:buFont typeface="Wingdings" pitchFamily="2" charset="2"/>
              <a:buChar char="Ø"/>
            </a:pPr>
            <a:r>
              <a:rPr lang="ar-SA" sz="3200" b="1" dirty="0" smtClean="0"/>
              <a:t> </a:t>
            </a:r>
            <a:r>
              <a:rPr lang="ar-SA" sz="3900" b="1" dirty="0">
                <a:solidFill>
                  <a:srgbClr val="0070C0"/>
                </a:solidFill>
              </a:rPr>
              <a:t>وبمرور الزمن تنوعت المدارس واختلفت تخصصاتها، حيث نهضت بتعليم الصغار مدارس أولية يلقن فيها الصغار مبادئ القراءة والكتابة والحساب وتعليم الدين، وكان معلمو هذه المدارس ممن تتوافر لديهم هذه المبادئ أو </a:t>
            </a:r>
            <a:r>
              <a:rPr lang="ar-SA" sz="3900" b="1" dirty="0" smtClean="0">
                <a:solidFill>
                  <a:srgbClr val="0070C0"/>
                </a:solidFill>
              </a:rPr>
              <a:t>بعضها</a:t>
            </a:r>
            <a:r>
              <a:rPr lang="ar-EG" sz="3900" b="1" dirty="0" smtClean="0">
                <a:solidFill>
                  <a:srgbClr val="0070C0"/>
                </a:solidFill>
              </a:rPr>
              <a:t>.</a:t>
            </a:r>
            <a:endParaRPr lang="ar-EG" sz="3900" b="1" dirty="0">
              <a:solidFill>
                <a:srgbClr val="0070C0"/>
              </a:solidFill>
            </a:endParaRPr>
          </a:p>
        </p:txBody>
      </p:sp>
    </p:spTree>
    <p:extLst>
      <p:ext uri="{BB962C8B-B14F-4D97-AF65-F5344CB8AC3E}">
        <p14:creationId xmlns:p14="http://schemas.microsoft.com/office/powerpoint/2010/main" val="304358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A" b="1" dirty="0">
                <a:solidFill>
                  <a:srgbClr val="0070C0"/>
                </a:solidFill>
              </a:rPr>
              <a:t>ثانياً:التعليم في المرحلة شبة المهنية</a:t>
            </a:r>
            <a:endParaRPr lang="ar-EG" dirty="0">
              <a:solidFill>
                <a:srgbClr val="0070C0"/>
              </a:solidFill>
            </a:endParaRPr>
          </a:p>
        </p:txBody>
      </p:sp>
      <p:sp>
        <p:nvSpPr>
          <p:cNvPr id="3" name="Content Placeholder 2"/>
          <p:cNvSpPr>
            <a:spLocks noGrp="1"/>
          </p:cNvSpPr>
          <p:nvPr>
            <p:ph idx="1"/>
          </p:nvPr>
        </p:nvSpPr>
        <p:spPr>
          <a:xfrm>
            <a:off x="1371600" y="2015835"/>
            <a:ext cx="9850582" cy="4509655"/>
          </a:xfrm>
        </p:spPr>
        <p:txBody>
          <a:bodyPr>
            <a:normAutofit fontScale="25000" lnSpcReduction="20000"/>
          </a:bodyPr>
          <a:lstStyle/>
          <a:p>
            <a:pPr algn="r">
              <a:buFont typeface="Wingdings" pitchFamily="2" charset="2"/>
              <a:buChar char="v"/>
            </a:pPr>
            <a:r>
              <a:rPr lang="ar-EG" sz="11200" b="1" dirty="0" smtClean="0"/>
              <a:t>بدأت زمنيا مع بدايات </a:t>
            </a:r>
            <a:r>
              <a:rPr lang="ar-EG" sz="11200" b="1" dirty="0" smtClean="0">
                <a:solidFill>
                  <a:srgbClr val="FF0000"/>
                </a:solidFill>
              </a:rPr>
              <a:t>القرن التاسع عشر </a:t>
            </a:r>
            <a:r>
              <a:rPr lang="ar-EG" sz="11200" b="1" dirty="0" smtClean="0"/>
              <a:t>واستمرت إلي ما قبل الحرب العالمية الثانية( حوالي قرن من الزمن).</a:t>
            </a:r>
          </a:p>
          <a:p>
            <a:pPr algn="r">
              <a:buFont typeface="Wingdings" pitchFamily="2" charset="2"/>
              <a:buChar char="v"/>
            </a:pPr>
            <a:r>
              <a:rPr lang="ar-EG" sz="11200" b="1" dirty="0" smtClean="0">
                <a:solidFill>
                  <a:srgbClr val="FF0000"/>
                </a:solidFill>
              </a:rPr>
              <a:t>التعليم العالي تطور ونما خلال هذه الفترة وأصبح مهنة </a:t>
            </a:r>
            <a:r>
              <a:rPr lang="ar-EG" sz="11200" b="1" dirty="0" smtClean="0"/>
              <a:t>لها خصائصها ومعاييرها المحكمة، وخاصة في الدول الأوروبية.</a:t>
            </a:r>
          </a:p>
          <a:p>
            <a:pPr algn="r">
              <a:buFont typeface="Wingdings" pitchFamily="2" charset="2"/>
              <a:buChar char="v"/>
            </a:pPr>
            <a:r>
              <a:rPr lang="ar-EG" sz="11200" b="1" dirty="0" smtClean="0"/>
              <a:t>بينما التعليم في المستويات الأخري لم يرق إلي المهنة بل بقي ينظر إليه على أنه حرفة بسيطة لكنه بدأ تدريجيا يقترب إلي ما </a:t>
            </a:r>
            <a:r>
              <a:rPr lang="ar-EG" sz="11200" b="1" dirty="0" smtClean="0">
                <a:solidFill>
                  <a:srgbClr val="FF0000"/>
                </a:solidFill>
              </a:rPr>
              <a:t>يسمي شبة المهنة</a:t>
            </a:r>
            <a:r>
              <a:rPr lang="ar-EG" sz="11200" b="1" dirty="0" smtClean="0"/>
              <a:t>.</a:t>
            </a:r>
          </a:p>
          <a:p>
            <a:pPr algn="r">
              <a:buFont typeface="Wingdings" pitchFamily="2" charset="2"/>
              <a:buChar char="v"/>
            </a:pPr>
            <a:r>
              <a:rPr lang="ar-EG" sz="11200" b="1" dirty="0" smtClean="0">
                <a:solidFill>
                  <a:srgbClr val="FF0000"/>
                </a:solidFill>
              </a:rPr>
              <a:t>بدأت الدول الأوروبية</a:t>
            </a:r>
            <a:r>
              <a:rPr lang="ar-EG" sz="11200" b="1" dirty="0" smtClean="0"/>
              <a:t> في وضع المعايير للالتحاق بالتعليم في هذه المستويات ويفرضون بعض الشروط.</a:t>
            </a:r>
          </a:p>
          <a:p>
            <a:pPr algn="r">
              <a:buFont typeface="Wingdings" pitchFamily="2" charset="2"/>
              <a:buChar char="v"/>
            </a:pPr>
            <a:r>
              <a:rPr lang="ar-EG" sz="11200" b="1" dirty="0" smtClean="0"/>
              <a:t>أما في </a:t>
            </a:r>
            <a:r>
              <a:rPr lang="ar-EG" sz="11200" b="1" dirty="0" smtClean="0">
                <a:solidFill>
                  <a:srgbClr val="FF0000"/>
                </a:solidFill>
              </a:rPr>
              <a:t>بعض البلدان العربية </a:t>
            </a:r>
            <a:r>
              <a:rPr lang="ar-EG" sz="11200" b="1" dirty="0" smtClean="0"/>
              <a:t>فقد استمرت هذه المرحلة إلي بداية السبعينيات</a:t>
            </a:r>
            <a:r>
              <a:rPr lang="ar-EG" dirty="0" smtClean="0"/>
              <a:t>.</a:t>
            </a:r>
            <a:endParaRPr lang="ar-EG" dirty="0"/>
          </a:p>
        </p:txBody>
      </p:sp>
    </p:spTree>
    <p:extLst>
      <p:ext uri="{BB962C8B-B14F-4D97-AF65-F5344CB8AC3E}">
        <p14:creationId xmlns:p14="http://schemas.microsoft.com/office/powerpoint/2010/main" val="1110633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1337"/>
            <a:ext cx="9777845" cy="768928"/>
          </a:xfrm>
        </p:spPr>
        <p:txBody>
          <a:bodyPr>
            <a:normAutofit/>
          </a:bodyPr>
          <a:lstStyle/>
          <a:p>
            <a:pPr rtl="1"/>
            <a:r>
              <a:rPr lang="ar-SA" b="1" dirty="0">
                <a:solidFill>
                  <a:srgbClr val="FF0000"/>
                </a:solidFill>
              </a:rPr>
              <a:t>ثالثاً: التعليم في المرحلة المهنية :</a:t>
            </a:r>
            <a:endParaRPr lang="en-US" b="1" dirty="0">
              <a:solidFill>
                <a:srgbClr val="FF0000"/>
              </a:solidFill>
            </a:endParaRPr>
          </a:p>
        </p:txBody>
      </p:sp>
      <p:sp>
        <p:nvSpPr>
          <p:cNvPr id="3" name="Content Placeholder 2"/>
          <p:cNvSpPr>
            <a:spLocks noGrp="1"/>
          </p:cNvSpPr>
          <p:nvPr>
            <p:ph idx="1"/>
          </p:nvPr>
        </p:nvSpPr>
        <p:spPr>
          <a:xfrm>
            <a:off x="758536" y="904009"/>
            <a:ext cx="11149445" cy="5881255"/>
          </a:xfrm>
        </p:spPr>
        <p:txBody>
          <a:bodyPr>
            <a:noAutofit/>
          </a:bodyPr>
          <a:lstStyle/>
          <a:p>
            <a:pPr algn="r"/>
            <a:r>
              <a:rPr lang="ar-SA" sz="2400" b="1" dirty="0">
                <a:solidFill>
                  <a:srgbClr val="00B0F0"/>
                </a:solidFill>
              </a:rPr>
              <a:t>وقد تبلورت هذه المرحلة في أعقاب الحرب العالمية </a:t>
            </a:r>
            <a:r>
              <a:rPr lang="ar-SA" sz="2400" b="1" dirty="0" smtClean="0">
                <a:solidFill>
                  <a:srgbClr val="00B0F0"/>
                </a:solidFill>
              </a:rPr>
              <a:t>الثانية</a:t>
            </a:r>
            <a:endParaRPr lang="ar-EG" sz="2400" b="1" dirty="0">
              <a:solidFill>
                <a:srgbClr val="00B0F0"/>
              </a:solidFill>
            </a:endParaRPr>
          </a:p>
          <a:p>
            <a:pPr algn="r"/>
            <a:r>
              <a:rPr lang="ar-SA" sz="2400" b="1" dirty="0">
                <a:solidFill>
                  <a:srgbClr val="FF0000"/>
                </a:solidFill>
              </a:rPr>
              <a:t>قيام العديد من الحكومات بإصلاحات تعليمية واسعة النطاق</a:t>
            </a:r>
            <a:r>
              <a:rPr lang="ar-SA" sz="2400" b="1" dirty="0"/>
              <a:t>، وكان في مقدمة هذه الإصلاحات تحسين الأوضاع المهنية للمعلمين وخاصة معلمى التعليم </a:t>
            </a:r>
            <a:r>
              <a:rPr lang="ar-SA" sz="2400" b="1" dirty="0" smtClean="0"/>
              <a:t>الابتدائى</a:t>
            </a:r>
            <a:endParaRPr lang="ar-EG" sz="2400" b="1" dirty="0" smtClean="0"/>
          </a:p>
          <a:p>
            <a:pPr algn="r" rtl="1"/>
            <a:r>
              <a:rPr lang="ar-SA" sz="2400" b="1" dirty="0">
                <a:solidFill>
                  <a:srgbClr val="FF0000"/>
                </a:solidFill>
              </a:rPr>
              <a:t>كما سارت العديد من الدول وخاصة النامية في اتجاه التمهين التربوى </a:t>
            </a:r>
            <a:r>
              <a:rPr lang="ar-SA" sz="2400" b="1" dirty="0"/>
              <a:t>ولا سيما في مجال تأهيل معلمى المرحلة الإبتدائية ومن أمثلة هذه المحاولات: </a:t>
            </a:r>
            <a:endParaRPr lang="en-US" sz="2400" b="1" dirty="0"/>
          </a:p>
          <a:p>
            <a:pPr lvl="0" algn="r" rtl="1"/>
            <a:r>
              <a:rPr lang="ar-SA" sz="2400" b="1" dirty="0"/>
              <a:t>الإرتفاع بمستوى القبول بمعاهد إعداد المعلمين إلى مستوى جامعي أو شبه جامعي بحيث أصبحت شهادة الثانوية العامة شرطاً أساسيا للإلتحاق ، بقصد الإرتفاع بمستوى الطلاب المرشحين لمهنة التعليم .</a:t>
            </a:r>
            <a:endParaRPr lang="en-US" sz="2400" b="1" dirty="0"/>
          </a:p>
          <a:p>
            <a:pPr lvl="0" algn="r" rtl="1"/>
            <a:r>
              <a:rPr lang="ar-SA" sz="2400" b="1" dirty="0"/>
              <a:t> التركيز على برامج الإعداد على المستويين النظرى والعملى مع تنوعها بحيث تشتمل النواحي الأكاديمية التخصصية والثقافية العامة والمهنية.</a:t>
            </a:r>
            <a:endParaRPr lang="en-US" sz="2400" b="1" dirty="0"/>
          </a:p>
          <a:p>
            <a:pPr lvl="0" algn="r" rtl="1"/>
            <a:r>
              <a:rPr lang="en-US" sz="2400" b="1" dirty="0"/>
              <a:t> </a:t>
            </a:r>
            <a:r>
              <a:rPr lang="ar-SA" sz="2400" b="1" dirty="0"/>
              <a:t>الأخذ بأساليب التربية المستمرة والتدريب أثناء الخدمة لكل المعلمين، مع الاخذ في الاعتبار محاولة تحسين ظروف العمل وفتح مجالات الترقى أمامهم </a:t>
            </a:r>
            <a:endParaRPr lang="en-US" sz="2400" b="1" dirty="0"/>
          </a:p>
          <a:p>
            <a:pPr algn="r"/>
            <a:endParaRPr lang="ar-EG" sz="2400" b="1" dirty="0"/>
          </a:p>
        </p:txBody>
      </p:sp>
    </p:spTree>
    <p:extLst>
      <p:ext uri="{BB962C8B-B14F-4D97-AF65-F5344CB8AC3E}">
        <p14:creationId xmlns:p14="http://schemas.microsoft.com/office/powerpoint/2010/main" val="407061099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TM10001105[[fn=قص]]</Template>
  <TotalTime>322</TotalTime>
  <Words>783</Words>
  <Application>Microsoft Office PowerPoint</Application>
  <PresentationFormat>Custom</PresentationFormat>
  <Paragraphs>43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Crop</vt:lpstr>
      <vt:lpstr>مراحل تطور مهنة التعليم </vt:lpstr>
      <vt:lpstr>1-  مهنة التعليم في العصور البدائية</vt:lpstr>
      <vt:lpstr>2-مهنة التعليم في العصور الوسطى</vt:lpstr>
      <vt:lpstr>    مهنة التعليم في العصور الوسطي</vt:lpstr>
      <vt:lpstr>PowerPoint Presentation</vt:lpstr>
      <vt:lpstr>مهنة التعليم في العصور الإسلامية     </vt:lpstr>
      <vt:lpstr>4-مهنة التعليم في عصر النهضة </vt:lpstr>
      <vt:lpstr>5- مهنة التعليم في عصر الإصلاح</vt:lpstr>
      <vt:lpstr>أن التعليم قد مر فى تطوره كمهنة بثلاث مراحل متميزةهى : -</vt:lpstr>
      <vt:lpstr>أولاً: التعليم في المرحلة قبل المهنية :</vt:lpstr>
      <vt:lpstr>PowerPoint Presentation</vt:lpstr>
      <vt:lpstr>ثانياً:التعليم في المرحلة شبة المهنية</vt:lpstr>
      <vt:lpstr>ثالثاً: التعليم في المرحلة المهنية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مفهوم التربية ونشأتها</dc:title>
  <dc:creator>PC</dc:creator>
  <cp:lastModifiedBy>EL7_gazy</cp:lastModifiedBy>
  <cp:revision>37</cp:revision>
  <dcterms:created xsi:type="dcterms:W3CDTF">2020-09-30T22:03:25Z</dcterms:created>
  <dcterms:modified xsi:type="dcterms:W3CDTF">2023-10-15T21:35:36Z</dcterms:modified>
</cp:coreProperties>
</file>